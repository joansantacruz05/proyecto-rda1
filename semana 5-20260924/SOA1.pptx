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0653" autoAdjust="0"/>
  </p:normalViewPr>
  <p:slideViewPr>
    <p:cSldViewPr snapToGrid="0" snapToObjects="1">
      <p:cViewPr varScale="1">
        <p:scale>
          <a:sx n="69" d="100"/>
          <a:sy n="69" d="100"/>
        </p:scale>
        <p:origin x="1205" y="6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ALDE RODRIGUEZ DAMIAN ANIBAL" userId="f605ab86-0138-4849-819e-6cc3699d4457" providerId="ADAL" clId="{15816E55-66A8-4E92-AF6C-61D7E84CB94B}"/>
    <pc:docChg chg="modSld">
      <pc:chgData name="NICOLALDE RODRIGUEZ DAMIAN ANIBAL" userId="f605ab86-0138-4849-819e-6cc3699d4457" providerId="ADAL" clId="{15816E55-66A8-4E92-AF6C-61D7E84CB94B}" dt="2021-04-06T16:11:24.497" v="9" actId="20577"/>
      <pc:docMkLst>
        <pc:docMk/>
      </pc:docMkLst>
      <pc:sldChg chg="modNotesTx">
        <pc:chgData name="NICOLALDE RODRIGUEZ DAMIAN ANIBAL" userId="f605ab86-0138-4849-819e-6cc3699d4457" providerId="ADAL" clId="{15816E55-66A8-4E92-AF6C-61D7E84CB94B}" dt="2021-04-06T16:11:24.497" v="9" actId="20577"/>
        <pc:sldMkLst>
          <pc:docMk/>
          <pc:sldMk cId="3796118917" sldId="257"/>
        </pc:sldMkLst>
      </pc:sldChg>
    </pc:docChg>
  </pc:docChgLst>
  <pc:docChgLst>
    <pc:chgData name="NICOLALDE RODRIGUEZ DAMIAN ANIBAL" userId="f605ab86-0138-4849-819e-6cc3699d4457" providerId="ADAL" clId="{70347F33-CB17-494F-9F40-1FCE51DE6E37}"/>
    <pc:docChg chg="modSld">
      <pc:chgData name="NICOLALDE RODRIGUEZ DAMIAN ANIBAL" userId="f605ab86-0138-4849-819e-6cc3699d4457" providerId="ADAL" clId="{70347F33-CB17-494F-9F40-1FCE51DE6E37}" dt="2021-08-25T15:52:15.367" v="22" actId="20577"/>
      <pc:docMkLst>
        <pc:docMk/>
      </pc:docMkLst>
      <pc:sldChg chg="modSp mod">
        <pc:chgData name="NICOLALDE RODRIGUEZ DAMIAN ANIBAL" userId="f605ab86-0138-4849-819e-6cc3699d4457" providerId="ADAL" clId="{70347F33-CB17-494F-9F40-1FCE51DE6E37}" dt="2021-08-25T15:52:15.367" v="22" actId="20577"/>
        <pc:sldMkLst>
          <pc:docMk/>
          <pc:sldMk cId="424560195" sldId="256"/>
        </pc:sldMkLst>
        <pc:spChg chg="mod">
          <ac:chgData name="NICOLALDE RODRIGUEZ DAMIAN ANIBAL" userId="f605ab86-0138-4849-819e-6cc3699d4457" providerId="ADAL" clId="{70347F33-CB17-494F-9F40-1FCE51DE6E37}" dt="2021-08-25T15:52:15.367" v="22" actId="20577"/>
          <ac:spMkLst>
            <pc:docMk/>
            <pc:sldMk cId="424560195" sldId="256"/>
            <ac:spMk id="2" creationId="{921E41FE-0BD2-B94B-8C92-CEFB192F1E69}"/>
          </ac:spMkLst>
        </pc:spChg>
      </pc:sldChg>
    </pc:docChg>
  </pc:docChgLst>
  <pc:docChgLst>
    <pc:chgData name="NICOLALDE RODRIGUEZ DAMIAN ANIBAL" userId="f605ab86-0138-4849-819e-6cc3699d4457" providerId="ADAL" clId="{95AB12CC-3471-4234-BB33-A95A61AC13F0}"/>
    <pc:docChg chg="modSld">
      <pc:chgData name="NICOLALDE RODRIGUEZ DAMIAN ANIBAL" userId="f605ab86-0138-4849-819e-6cc3699d4457" providerId="ADAL" clId="{95AB12CC-3471-4234-BB33-A95A61AC13F0}" dt="2021-05-14T22:59:23.578" v="10" actId="20577"/>
      <pc:docMkLst>
        <pc:docMk/>
      </pc:docMkLst>
      <pc:sldChg chg="modSp mod">
        <pc:chgData name="NICOLALDE RODRIGUEZ DAMIAN ANIBAL" userId="f605ab86-0138-4849-819e-6cc3699d4457" providerId="ADAL" clId="{95AB12CC-3471-4234-BB33-A95A61AC13F0}" dt="2021-05-14T22:59:23.578" v="10" actId="20577"/>
        <pc:sldMkLst>
          <pc:docMk/>
          <pc:sldMk cId="424560195" sldId="256"/>
        </pc:sldMkLst>
        <pc:spChg chg="mod">
          <ac:chgData name="NICOLALDE RODRIGUEZ DAMIAN ANIBAL" userId="f605ab86-0138-4849-819e-6cc3699d4457" providerId="ADAL" clId="{95AB12CC-3471-4234-BB33-A95A61AC13F0}" dt="2021-05-14T22:59:23.578" v="10" actId="20577"/>
          <ac:spMkLst>
            <pc:docMk/>
            <pc:sldMk cId="424560195" sldId="256"/>
            <ac:spMk id="2" creationId="{921E41FE-0BD2-B94B-8C92-CEFB192F1E6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C"/>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062355-97FB-8D4E-91C8-30404EBFAC73}" type="datetimeFigureOut">
              <a:rPr lang="es-EC" smtClean="0"/>
              <a:t>25/8/2021</a:t>
            </a:fld>
            <a:endParaRPr lang="es-EC"/>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C"/>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C"/>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D456E0-F21E-9B46-86F6-06C28A9D4490}" type="slidenum">
              <a:rPr lang="es-EC" smtClean="0"/>
              <a:t>‹Nº›</a:t>
            </a:fld>
            <a:endParaRPr lang="es-EC"/>
          </a:p>
        </p:txBody>
      </p:sp>
    </p:spTree>
    <p:extLst>
      <p:ext uri="{BB962C8B-B14F-4D97-AF65-F5344CB8AC3E}">
        <p14:creationId xmlns:p14="http://schemas.microsoft.com/office/powerpoint/2010/main" val="2471538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(LEER ANTES DE LA PRESENTACIÓN) Hace cerca de 20 años cuando todavía no existían tantos productos de software comerciales para gestionar las diferentes áreas de una compañía, las empresas por lo general construían sus propios sistemas adecuados para satisfacer sus necesidades específicas, por lo que casi toda la información residía en un solo punto, lo que hacía que las necesidades de integrar información entre diferentes sistemas eran casi nulas.</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Sin embargo, con el paso de los años, empezaron a salir sistemas especializados que ayudaban a gestionar diferentes áreas de la compañía de una forma más eficiente y con un costo mucho menor que desarrollarlos por ellos mismo, como es el caso de los sistemas de nómina, inventarios, distribución, contabilidad, almacenes, ERP, CRM, CMS, etc. Aunado a esto, todos estos productos eran desarrollados por empresa y tecnologías diferentes, lo que hacía que enviar o consultar información de un sistema a otro era un verdadero dolor de cabeza.</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Una de las problemáticas más importantes para la transferencia de información de un sistema a otra era la tecnología por sí misma, ya que una aplicación desarrollada en C no se podía comunicar naturalmente con una en Java, o una aplicación de Visual Basic, esto provocaba que los desarrolladores buscaran alternativas para la transmisión de información, la cual consistía en intercambiar archivos de texto plano o compartir una base de datos desde la cual leyeran y escribieran información, que como veremos más adelante, era otro problema.</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Para solventar esta problemática salieron tecnologías como DCOM (Distributed Component Object Model) y CORBA (Common Object Request Broker Architecture) los cuales buscaban resolver los problemas de comunicación entre las diferentes tecnologías, y lo lograron, sin embargo, son hasta la fecha, tecnologías sumamente complejas. DCOM se implementa mediante la creación RPC (Remote Procedure Call) o “Llamada a procedimientos remotos” el cual consiste en crear procedimientos expuestos por un servidor que pueden ser ejecutados por otra aplicación, con la limitante que solo soporta parámetros básicos, es decir, no soporta estructuras u objetos. Por otra parte, CORBA, si permite el envío de mensajes completos u objetos, sin embargo, CORBA requiere de la definición de cada objeto en un lenguaje descriptor de interfaz (IDL) y la creación de Stubs, los cuales son representaciones de los objetos y </a:t>
            </a:r>
            <a:r>
              <a:rPr lang="es-EC" sz="1200" kern="1200">
                <a:solidFill>
                  <a:schemeClr val="tx1"/>
                </a:solidFill>
                <a:effectLst/>
                <a:latin typeface="+mn-lt"/>
                <a:ea typeface="+mn-ea"/>
                <a:cs typeface="+mn-cs"/>
              </a:rPr>
              <a:t>operaciones remotas </a:t>
            </a:r>
            <a:r>
              <a:rPr lang="es-EC" sz="1200" kern="1200" dirty="0">
                <a:solidFill>
                  <a:schemeClr val="tx1"/>
                </a:solidFill>
                <a:effectLst/>
                <a:latin typeface="+mn-lt"/>
                <a:ea typeface="+mn-ea"/>
                <a:cs typeface="+mn-cs"/>
              </a:rPr>
              <a:t>del lado del consumidor del servicio.</a:t>
            </a:r>
          </a:p>
          <a:p>
            <a:endParaRPr lang="es-EC" sz="1200" kern="1200" dirty="0">
              <a:solidFill>
                <a:schemeClr val="tx1"/>
              </a:solidFill>
              <a:effectLst/>
              <a:latin typeface="+mn-lt"/>
              <a:ea typeface="+mn-ea"/>
              <a:cs typeface="+mn-cs"/>
            </a:endParaRP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2</a:t>
            </a:fld>
            <a:endParaRPr lang="es-EC"/>
          </a:p>
        </p:txBody>
      </p:sp>
    </p:spTree>
    <p:extLst>
      <p:ext uri="{BB962C8B-B14F-4D97-AF65-F5344CB8AC3E}">
        <p14:creationId xmlns:p14="http://schemas.microsoft.com/office/powerpoint/2010/main" val="1054775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En la imagen podemos ver como las aplicaciones del lado izquierdo (A, B, C) exponen una serie de servicios que estarán disponibles por la red, los cuales son consumidos por las aplicaciones del lado derecho (X, Y, Z), aun que podrían ser consumidos por cualquier otra aplicación que este dentro de la misma red, o en su defecto, por internet.</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La idea central de construir servicios va más allá de solventar la problemática de la integración con aplicaciones heterogéneas, si no que brinda una serie de ventajas que ayudan a la reutilización de los servicios, encapsulamiento de las aplicaciones, seguridad, una larga lista de características.</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3</a:t>
            </a:fld>
            <a:endParaRPr lang="es-EC"/>
          </a:p>
        </p:txBody>
      </p:sp>
    </p:spTree>
    <p:extLst>
      <p:ext uri="{BB962C8B-B14F-4D97-AF65-F5344CB8AC3E}">
        <p14:creationId xmlns:p14="http://schemas.microsoft.com/office/powerpoint/2010/main" val="1836005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b="1" kern="1200" dirty="0">
                <a:solidFill>
                  <a:schemeClr val="tx1"/>
                </a:solidFill>
                <a:effectLst/>
                <a:latin typeface="+mn-lt"/>
                <a:ea typeface="+mn-ea"/>
                <a:cs typeface="+mn-cs"/>
              </a:rPr>
              <a:t>Nuevo concepto: Web Service </a:t>
            </a:r>
            <a:r>
              <a:rPr lang="es-EC" sz="1200" kern="1200" dirty="0">
                <a:solidFill>
                  <a:schemeClr val="tx1"/>
                </a:solidFill>
                <a:effectLst/>
                <a:latin typeface="+mn-lt"/>
                <a:ea typeface="+mn-ea"/>
                <a:cs typeface="+mn-cs"/>
              </a:rPr>
              <a:t>Un servicio web (en inglés, web service) es una tecnología que utiliza un conjunto de protocolos y estándares que sirven para intercambiar datos entre aplicaciones. Distintas aplicaciones de software desarrolladas en lenguajes de programación diferentes, y ejecutadas sobre cualquier plataforma, pueden utilizar los servicios web para intercambiar datos en redes de ordenadores como Internet.</a:t>
            </a:r>
          </a:p>
          <a:p>
            <a:r>
              <a:rPr lang="es-EC" sz="1200" kern="1200" dirty="0">
                <a:solidFill>
                  <a:schemeClr val="tx1"/>
                </a:solidFill>
                <a:effectLst/>
                <a:latin typeface="+mn-lt"/>
                <a:ea typeface="+mn-ea"/>
                <a:cs typeface="+mn-cs"/>
              </a:rPr>
              <a:t> </a:t>
            </a:r>
          </a:p>
          <a:p>
            <a:r>
              <a:rPr lang="es-EC" sz="1200" kern="1200" dirty="0">
                <a:solidFill>
                  <a:schemeClr val="tx1"/>
                </a:solidFill>
                <a:effectLst/>
                <a:latin typeface="+mn-lt"/>
                <a:ea typeface="+mn-ea"/>
                <a:cs typeface="+mn-cs"/>
              </a:rPr>
              <a:t>(LEER AL FINAL) Si bien el protocolo HTTP es el más utilizado para la transmisión de los datos, no es la única forma, como muchos creen, pues en realidad SOA no define los protocolos a utilizar, es por ello que es posible transmitir los mensajes por protocolos como FTP o SMTP, lo importante es que el mensaje (XML) cumpla con el contrato (WSDL).</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4</a:t>
            </a:fld>
            <a:endParaRPr lang="es-EC"/>
          </a:p>
        </p:txBody>
      </p:sp>
    </p:spTree>
    <p:extLst>
      <p:ext uri="{BB962C8B-B14F-4D97-AF65-F5344CB8AC3E}">
        <p14:creationId xmlns:p14="http://schemas.microsoft.com/office/powerpoint/2010/main" val="1283181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La utilización de todos estos estandartes y protocolos como HTTP, SOAP, WSDL, XML, XSD hacen que las aplicaciones se puedan comunicar de una forma totalmente homogénea, pues ya no importa en qué tecnología este desarrollado el sistema, sino más bien, cumplir con el formato del mensaje, el cual está perfectamente definido en el WSDL.</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5</a:t>
            </a:fld>
            <a:endParaRPr lang="es-EC"/>
          </a:p>
        </p:txBody>
      </p:sp>
    </p:spTree>
    <p:extLst>
      <p:ext uri="{BB962C8B-B14F-4D97-AF65-F5344CB8AC3E}">
        <p14:creationId xmlns:p14="http://schemas.microsoft.com/office/powerpoint/2010/main" val="267226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Como podemos ver en la imagen, el banco crea un servicio para consultar el saldo (balance) y otro para realizar retiros (withdrawal) los cuales pueden ser utilizados por cualquier aplicación, no solo el cajero automático, por ejemplo, cuando vas a la ventanilla a retirar efectivo o consultar tu saldo al banco. Por otra parte, el cajero necesita realizar las dos operaciones al mismo tiempo, por lo que podemos crear un nuevo servicio basado en los dos anteriores para crear uno más poderoso, el cual retira efectivo y consulta el saldo en un solo paso, de esta forma, quien quiere solo hacer un retiro o consultar el saldo lo podrá hacer. En SOA es común ver una amalgama de servicios creados a partir de otros, lo que hace que aprovechemos al máximo la reutilización de servicios y construir mucho más</a:t>
            </a:r>
          </a:p>
          <a:p>
            <a:r>
              <a:rPr lang="es-EC" sz="1200" kern="1200" dirty="0">
                <a:solidFill>
                  <a:schemeClr val="tx1"/>
                </a:solidFill>
                <a:effectLst/>
                <a:latin typeface="+mn-lt"/>
                <a:ea typeface="+mn-ea"/>
                <a:cs typeface="+mn-cs"/>
              </a:rPr>
              <a:t>rápido a partir de servicios existentes.</a:t>
            </a: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8</a:t>
            </a:fld>
            <a:endParaRPr lang="es-EC"/>
          </a:p>
        </p:txBody>
      </p:sp>
    </p:spTree>
    <p:extLst>
      <p:ext uri="{BB962C8B-B14F-4D97-AF65-F5344CB8AC3E}">
        <p14:creationId xmlns:p14="http://schemas.microsoft.com/office/powerpoint/2010/main" val="1938760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Cabe mencionar que SOA pone foco en la flexibilidad por encima de la optimización, lo que quiere decir que esta arquitectura no es especialmente rápida con respecto a otras, ya que en ocasiones un servicio tiene que consumir a otros para completar un proceso de negocio, lo que hace que cada brinco a otro servicio provoque una pequeña latencia, además, los servicios por lo general son distribuidos, lo que quiere decir que los diferentes servicios pueden estar en diferentes redes o regiones geográficas, sin embargo, esta arquitectura se caracteriza por su flexibilidad, ya que permite la construcción de nuevos servicios utilizando la infraestructura de servicios existentes.</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(LEER AL EXPLICAR LA IMAGEN)En la imagen podemos ver claramente como nuevos servicios se van construyendo a partir de los servicios existentes, pero al mismo tiempo, a la vez que vamos subiendo en el nivel de composición, los servicios se van haciendo de más alto nivel, es decir, puede que el primer nivel sean servicios básicos de CRUD (Altas, Bajas, Cambios, Borrado) y los servicios de más nivel son operaciones completas como reservar un vuelo con hospedaje y la renta de un carro, al mismo tiempo que a más alto nivel, diferentes aplicaciones pueden ser impactadas en una sola ejecución.</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9</a:t>
            </a:fld>
            <a:endParaRPr lang="es-EC"/>
          </a:p>
        </p:txBody>
      </p:sp>
    </p:spTree>
    <p:extLst>
      <p:ext uri="{BB962C8B-B14F-4D97-AF65-F5344CB8AC3E}">
        <p14:creationId xmlns:p14="http://schemas.microsoft.com/office/powerpoint/2010/main" val="2221821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Mediante los servicios es posible que cualquier persona con pocos conocimientos de la otra aplicación logre una integración, pues los servicios retornarán toda la información necesaria y en una estructura muy organizada, por otra parte, si queremos enviarle datos a la aplicación, los servicios también exponen operaciones de alto nivel, los cuales solo nos piden la información a guardar y ellos se encargan de saber que procesos y tablas afectar, al mismo tiempo que validan toda la información para no permitir introducir valores incorrectos.</a:t>
            </a: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10</a:t>
            </a:fld>
            <a:endParaRPr lang="es-EC"/>
          </a:p>
        </p:txBody>
      </p:sp>
    </p:spTree>
    <p:extLst>
      <p:ext uri="{BB962C8B-B14F-4D97-AF65-F5344CB8AC3E}">
        <p14:creationId xmlns:p14="http://schemas.microsoft.com/office/powerpoint/2010/main" val="1149878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(LEER PRIMERO) </a:t>
            </a:r>
            <a:r>
              <a:rPr lang="es-EC" sz="1200" kern="1200" dirty="0">
                <a:solidFill>
                  <a:schemeClr val="tx1"/>
                </a:solidFill>
                <a:effectLst/>
                <a:latin typeface="+mn-lt"/>
                <a:ea typeface="+mn-ea"/>
                <a:cs typeface="+mn-cs"/>
              </a:rPr>
              <a:t>Anteriormente veíamos que las aplicaciones se conectaban directamente a las tablas de los otros sistemas, creando un caos total, pues si el programador de la otra aplicación no sabía cómo guardar los datos, crear una serie de registros terminaba corrompiendo la integridad de los datos:</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En la imagen podemos ver dos aplicaciones, cada una con su base de datos, sin embargo, cuando la aplicación A quiere consultar o enviar datos a B, lo hace afectando directamente su base de datos, lo cual es considerado una muy mala práctica hoy en día.</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11</a:t>
            </a:fld>
            <a:endParaRPr lang="es-EC"/>
          </a:p>
        </p:txBody>
      </p:sp>
    </p:spTree>
    <p:extLst>
      <p:ext uri="{BB962C8B-B14F-4D97-AF65-F5344CB8AC3E}">
        <p14:creationId xmlns:p14="http://schemas.microsoft.com/office/powerpoint/2010/main" val="2953364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(LEER PRIMERO) </a:t>
            </a:r>
            <a:r>
              <a:rPr lang="es-EC" sz="1200" kern="1200" dirty="0">
                <a:solidFill>
                  <a:schemeClr val="tx1"/>
                </a:solidFill>
                <a:effectLst/>
                <a:latin typeface="+mn-lt"/>
                <a:ea typeface="+mn-ea"/>
                <a:cs typeface="+mn-cs"/>
              </a:rPr>
              <a:t>Para solventar el problema mencionado en la presentación anterior, cada aplicación debe de exponer una serie de servicios que permite consultar o enviar información al sistema:</a:t>
            </a: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12</a:t>
            </a:fld>
            <a:endParaRPr lang="es-EC"/>
          </a:p>
        </p:txBody>
      </p:sp>
    </p:spTree>
    <p:extLst>
      <p:ext uri="{BB962C8B-B14F-4D97-AF65-F5344CB8AC3E}">
        <p14:creationId xmlns:p14="http://schemas.microsoft.com/office/powerpoint/2010/main" val="4193052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sz="1200" kern="1200" dirty="0">
                <a:solidFill>
                  <a:schemeClr val="tx1"/>
                </a:solidFill>
                <a:effectLst/>
                <a:latin typeface="+mn-lt"/>
                <a:ea typeface="+mn-ea"/>
                <a:cs typeface="+mn-cs"/>
              </a:rPr>
              <a:t>Si estás familiarizado con los patrones de diseño, quizás esta arquitectura te resulte familiar, ya que un Service Bus funciona como un Mediador, el cual se coloca en medio de la arquitectura para mediar la comunicación entre los diferentes sistemas, de esta forma, logramos controlar la comunicación entre las aplicaciones, eliminar el acoplamiento e incluso, agregar lógica adicional como la comprobación</a:t>
            </a:r>
          </a:p>
          <a:p>
            <a:r>
              <a:rPr lang="es-EC" sz="1200" kern="1200" dirty="0">
                <a:solidFill>
                  <a:schemeClr val="tx1"/>
                </a:solidFill>
                <a:effectLst/>
                <a:latin typeface="+mn-lt"/>
                <a:ea typeface="+mn-ea"/>
                <a:cs typeface="+mn-cs"/>
              </a:rPr>
              <a:t>de seguridad o auditoría de la comunicación para medir número de invocaciones, tiempos de respuesta, detectar y notificar errores, etc.</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En realidad, un Service Bus es un componente muy grande y complejo, del cual existe libros enteros dedicados a enseñar su funcionamiento, por lo que en esta sección solo queremos dar una pequeña introducción.</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En el mercado existen diferentes productos ya desarrollados que podemos utilizar, como es el caso de Oracle Service Bus, IBM Message Broker, JBoss ESB, Mulesoft, etc.</a:t>
            </a:r>
          </a:p>
          <a:p>
            <a:endParaRPr lang="es-EC" sz="1200" kern="1200" dirty="0">
              <a:solidFill>
                <a:schemeClr val="tx1"/>
              </a:solidFill>
              <a:effectLst/>
              <a:latin typeface="+mn-lt"/>
              <a:ea typeface="+mn-ea"/>
              <a:cs typeface="+mn-cs"/>
            </a:endParaRPr>
          </a:p>
          <a:p>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14</a:t>
            </a:fld>
            <a:endParaRPr lang="es-EC"/>
          </a:p>
        </p:txBody>
      </p:sp>
    </p:spTree>
    <p:extLst>
      <p:ext uri="{BB962C8B-B14F-4D97-AF65-F5344CB8AC3E}">
        <p14:creationId xmlns:p14="http://schemas.microsoft.com/office/powerpoint/2010/main" val="3730685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C" dirty="0"/>
              <a:t>(LEER ANTES)</a:t>
            </a:r>
            <a:r>
              <a:rPr lang="es-EC" sz="1200" kern="1200" dirty="0">
                <a:solidFill>
                  <a:schemeClr val="tx1"/>
                </a:solidFill>
                <a:effectLst/>
                <a:latin typeface="+mn-lt"/>
                <a:ea typeface="+mn-ea"/>
                <a:cs typeface="+mn-cs"/>
              </a:rPr>
              <a:t> Antes que nada, SOA es un estilo arquitectónico compatible con otras arquitecturas, pues este estilo solo menciona como las aplicaciones deben de exponer servicios para comunicarse con otras aplicaciones, por lo que una vez dentro del sistema, este puede ser un Monolítico, un Microservicio, una aplicación en Capas, etc.</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Si viéramos SOA como una cebolla, SOA sería la capa superior, es decir, es la arquitectura de cara a los usuarios, mientras que por dentro, podría implementar cualquier otra arquitectura.</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Dicho lo anterior, se podría decir que SOA es utilizada en aplicaciones que están pensadas para ser integradas con otras aplicaciones, o que tiene la necesidad de brindar servicios de negocio a la compañía la cual les permita crear servicios mucho más fáciles y reutilizando lo más posible.</a:t>
            </a:r>
          </a:p>
          <a:p>
            <a:endParaRPr lang="es-EC" sz="1200" kern="1200" dirty="0">
              <a:solidFill>
                <a:schemeClr val="tx1"/>
              </a:solidFill>
              <a:effectLst/>
              <a:latin typeface="+mn-lt"/>
              <a:ea typeface="+mn-ea"/>
              <a:cs typeface="+mn-cs"/>
            </a:endParaRPr>
          </a:p>
          <a:p>
            <a:r>
              <a:rPr lang="es-EC" sz="1200" kern="1200" dirty="0">
                <a:solidFill>
                  <a:schemeClr val="tx1"/>
                </a:solidFill>
                <a:effectLst/>
                <a:latin typeface="+mn-lt"/>
                <a:ea typeface="+mn-ea"/>
                <a:cs typeface="+mn-cs"/>
              </a:rPr>
              <a:t>En realidad, SOA es muy flexible en cuanto a su implementación, pues puede ser utilizada en casi cualquier tipo de aplicaciones.</a:t>
            </a:r>
            <a:endParaRPr lang="es-EC" dirty="0"/>
          </a:p>
        </p:txBody>
      </p:sp>
      <p:sp>
        <p:nvSpPr>
          <p:cNvPr id="4" name="Marcador de número de diapositiva 3"/>
          <p:cNvSpPr>
            <a:spLocks noGrp="1"/>
          </p:cNvSpPr>
          <p:nvPr>
            <p:ph type="sldNum" sz="quarter" idx="5"/>
          </p:nvPr>
        </p:nvSpPr>
        <p:spPr/>
        <p:txBody>
          <a:bodyPr/>
          <a:lstStyle/>
          <a:p>
            <a:fld id="{54D456E0-F21E-9B46-86F6-06C28A9D4490}" type="slidenum">
              <a:rPr lang="es-EC" smtClean="0"/>
              <a:t>18</a:t>
            </a:fld>
            <a:endParaRPr lang="es-EC"/>
          </a:p>
        </p:txBody>
      </p:sp>
    </p:spTree>
    <p:extLst>
      <p:ext uri="{BB962C8B-B14F-4D97-AF65-F5344CB8AC3E}">
        <p14:creationId xmlns:p14="http://schemas.microsoft.com/office/powerpoint/2010/main" val="1099794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760E21-9332-4D46-A141-F6017F2DA03D}"/>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endParaRPr lang="es-EC"/>
          </a:p>
        </p:txBody>
      </p:sp>
      <p:sp>
        <p:nvSpPr>
          <p:cNvPr id="3" name="Subtítulo 2">
            <a:extLst>
              <a:ext uri="{FF2B5EF4-FFF2-40B4-BE49-F238E27FC236}">
                <a16:creationId xmlns:a16="http://schemas.microsoft.com/office/drawing/2014/main" id="{AC3BBEBB-58AC-6840-A7AA-1C90BB820DB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lang="es-EC"/>
          </a:p>
        </p:txBody>
      </p:sp>
      <p:sp>
        <p:nvSpPr>
          <p:cNvPr id="4" name="Marcador de fecha 3">
            <a:extLst>
              <a:ext uri="{FF2B5EF4-FFF2-40B4-BE49-F238E27FC236}">
                <a16:creationId xmlns:a16="http://schemas.microsoft.com/office/drawing/2014/main" id="{15C0911B-6CF8-3C47-BB75-9F6D411D3764}"/>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C33B1007-2DE2-F140-96FA-3BC59A80A50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7BE4049D-A54B-A24D-A0B1-918659418C69}"/>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135570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13B1A1-EB65-AB45-875F-6CAABC6067B0}"/>
              </a:ext>
            </a:extLst>
          </p:cNvPr>
          <p:cNvSpPr>
            <a:spLocks noGrp="1"/>
          </p:cNvSpPr>
          <p:nvPr>
            <p:ph type="title"/>
          </p:nvPr>
        </p:nvSpPr>
        <p:spPr/>
        <p:txBody>
          <a:bodyPr/>
          <a:lstStyle/>
          <a:p>
            <a:r>
              <a:rPr lang="es-MX"/>
              <a:t>Haz clic para modificar el estilo de título del patrón</a:t>
            </a:r>
            <a:endParaRPr lang="es-EC"/>
          </a:p>
        </p:txBody>
      </p:sp>
      <p:sp>
        <p:nvSpPr>
          <p:cNvPr id="3" name="Marcador de contenido 2">
            <a:extLst>
              <a:ext uri="{FF2B5EF4-FFF2-40B4-BE49-F238E27FC236}">
                <a16:creationId xmlns:a16="http://schemas.microsoft.com/office/drawing/2014/main" id="{25AC58DC-F295-A545-8EC8-521E380EE236}"/>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fecha 3">
            <a:extLst>
              <a:ext uri="{FF2B5EF4-FFF2-40B4-BE49-F238E27FC236}">
                <a16:creationId xmlns:a16="http://schemas.microsoft.com/office/drawing/2014/main" id="{83C9AEED-D15E-8E45-80B9-7BFA484E53B7}"/>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121B4ADD-0272-694B-A078-C2B5BCF89F03}"/>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EF3FEC5-D6F7-204B-B0BE-239CC95B7B28}"/>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812721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D6CDE-1F11-064D-B83E-9136D4045D7A}"/>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endParaRPr lang="es-EC"/>
          </a:p>
        </p:txBody>
      </p:sp>
      <p:sp>
        <p:nvSpPr>
          <p:cNvPr id="3" name="Marcador de texto 2">
            <a:extLst>
              <a:ext uri="{FF2B5EF4-FFF2-40B4-BE49-F238E27FC236}">
                <a16:creationId xmlns:a16="http://schemas.microsoft.com/office/drawing/2014/main" id="{C4D4AF08-63C3-C44C-9D9A-E7F6D8B10E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55A152B1-728A-4849-8838-D9AA576B1353}"/>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9968368D-C42F-1A41-B121-574B014A60F9}"/>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B4DB9306-6968-224D-A210-B4303A15AA39}"/>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23646760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576248-3086-1A47-B00A-03564A8AE9AF}"/>
              </a:ext>
            </a:extLst>
          </p:cNvPr>
          <p:cNvSpPr>
            <a:spLocks noGrp="1"/>
          </p:cNvSpPr>
          <p:nvPr>
            <p:ph type="title"/>
          </p:nvPr>
        </p:nvSpPr>
        <p:spPr/>
        <p:txBody>
          <a:bodyPr/>
          <a:lstStyle/>
          <a:p>
            <a:r>
              <a:rPr lang="es-MX"/>
              <a:t>Haz clic para modificar el estilo de título del patrón</a:t>
            </a:r>
            <a:endParaRPr lang="es-EC"/>
          </a:p>
        </p:txBody>
      </p:sp>
      <p:sp>
        <p:nvSpPr>
          <p:cNvPr id="3" name="Marcador de contenido 2">
            <a:extLst>
              <a:ext uri="{FF2B5EF4-FFF2-40B4-BE49-F238E27FC236}">
                <a16:creationId xmlns:a16="http://schemas.microsoft.com/office/drawing/2014/main" id="{753F73ED-9C1F-BF45-A1E2-9309A9D053D3}"/>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contenido 3">
            <a:extLst>
              <a:ext uri="{FF2B5EF4-FFF2-40B4-BE49-F238E27FC236}">
                <a16:creationId xmlns:a16="http://schemas.microsoft.com/office/drawing/2014/main" id="{042B6CFC-2DFA-CC41-9A6D-1410E70A86C7}"/>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5" name="Marcador de fecha 4">
            <a:extLst>
              <a:ext uri="{FF2B5EF4-FFF2-40B4-BE49-F238E27FC236}">
                <a16:creationId xmlns:a16="http://schemas.microsoft.com/office/drawing/2014/main" id="{741C4688-DC40-BC42-9A32-5B2AF0F39718}"/>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6" name="Marcador de pie de página 5">
            <a:extLst>
              <a:ext uri="{FF2B5EF4-FFF2-40B4-BE49-F238E27FC236}">
                <a16:creationId xmlns:a16="http://schemas.microsoft.com/office/drawing/2014/main" id="{4C5D8F28-1728-594E-A0FC-0A4984FB584B}"/>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3DA9D034-EA96-8A47-B32B-29EF523C22BB}"/>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3625758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868D6D-0513-A349-9240-AFA0CC87BF2B}"/>
              </a:ext>
            </a:extLst>
          </p:cNvPr>
          <p:cNvSpPr>
            <a:spLocks noGrp="1"/>
          </p:cNvSpPr>
          <p:nvPr>
            <p:ph type="title"/>
          </p:nvPr>
        </p:nvSpPr>
        <p:spPr>
          <a:xfrm>
            <a:off x="839788" y="365125"/>
            <a:ext cx="10515600" cy="1325563"/>
          </a:xfrm>
        </p:spPr>
        <p:txBody>
          <a:bodyPr/>
          <a:lstStyle/>
          <a:p>
            <a:r>
              <a:rPr lang="es-MX"/>
              <a:t>Haz clic para modificar el estilo de título del patrón</a:t>
            </a:r>
            <a:endParaRPr lang="es-EC"/>
          </a:p>
        </p:txBody>
      </p:sp>
      <p:sp>
        <p:nvSpPr>
          <p:cNvPr id="3" name="Marcador de texto 2">
            <a:extLst>
              <a:ext uri="{FF2B5EF4-FFF2-40B4-BE49-F238E27FC236}">
                <a16:creationId xmlns:a16="http://schemas.microsoft.com/office/drawing/2014/main" id="{B7B90BF3-2125-1A4E-9F8F-CF18F1FBD9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B0CF6A0D-DCF5-F540-82F8-76263D0531E3}"/>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5" name="Marcador de texto 4">
            <a:extLst>
              <a:ext uri="{FF2B5EF4-FFF2-40B4-BE49-F238E27FC236}">
                <a16:creationId xmlns:a16="http://schemas.microsoft.com/office/drawing/2014/main" id="{C98C255D-091E-F74B-BF13-CD67CA9EE3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53B9B9C7-5C49-AE42-8EB0-329F9405AC48}"/>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7" name="Marcador de fecha 6">
            <a:extLst>
              <a:ext uri="{FF2B5EF4-FFF2-40B4-BE49-F238E27FC236}">
                <a16:creationId xmlns:a16="http://schemas.microsoft.com/office/drawing/2014/main" id="{5427FA38-5B9C-A349-846D-7EB73A056336}"/>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8" name="Marcador de pie de página 7">
            <a:extLst>
              <a:ext uri="{FF2B5EF4-FFF2-40B4-BE49-F238E27FC236}">
                <a16:creationId xmlns:a16="http://schemas.microsoft.com/office/drawing/2014/main" id="{39C133E3-F90F-D44B-971D-F1BC473C5022}"/>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12C0EB00-561E-3445-959D-BC104E9E21EC}"/>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3690232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2B2FC-07F4-E440-AB52-DCBA5A3D583A}"/>
              </a:ext>
            </a:extLst>
          </p:cNvPr>
          <p:cNvSpPr>
            <a:spLocks noGrp="1"/>
          </p:cNvSpPr>
          <p:nvPr>
            <p:ph type="title"/>
          </p:nvPr>
        </p:nvSpPr>
        <p:spPr/>
        <p:txBody>
          <a:bodyPr/>
          <a:lstStyle/>
          <a:p>
            <a:r>
              <a:rPr lang="es-MX"/>
              <a:t>Haz clic para modificar el estilo de título del patrón</a:t>
            </a:r>
            <a:endParaRPr lang="es-EC"/>
          </a:p>
        </p:txBody>
      </p:sp>
      <p:sp>
        <p:nvSpPr>
          <p:cNvPr id="3" name="Marcador de fecha 2">
            <a:extLst>
              <a:ext uri="{FF2B5EF4-FFF2-40B4-BE49-F238E27FC236}">
                <a16:creationId xmlns:a16="http://schemas.microsoft.com/office/drawing/2014/main" id="{002C0846-96BA-4C4C-B906-D698654330D6}"/>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4" name="Marcador de pie de página 3">
            <a:extLst>
              <a:ext uri="{FF2B5EF4-FFF2-40B4-BE49-F238E27FC236}">
                <a16:creationId xmlns:a16="http://schemas.microsoft.com/office/drawing/2014/main" id="{F112C90C-18E9-C249-B712-09FABF2E2C83}"/>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E51950C0-9DC0-C244-8AFC-E11C0765DC9F}"/>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968956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0B31AD5-22B3-3746-B875-8CE281390F51}"/>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3" name="Marcador de pie de página 2">
            <a:extLst>
              <a:ext uri="{FF2B5EF4-FFF2-40B4-BE49-F238E27FC236}">
                <a16:creationId xmlns:a16="http://schemas.microsoft.com/office/drawing/2014/main" id="{78BEC70B-4A2A-4C4D-B1B7-ADEE8AE9B205}"/>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C45D2D0F-71CC-6646-9608-74A6967D8706}"/>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167596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5A2ADC-0D3E-6C41-86F4-B8B34132D72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C"/>
          </a:p>
        </p:txBody>
      </p:sp>
      <p:sp>
        <p:nvSpPr>
          <p:cNvPr id="3" name="Marcador de contenido 2">
            <a:extLst>
              <a:ext uri="{FF2B5EF4-FFF2-40B4-BE49-F238E27FC236}">
                <a16:creationId xmlns:a16="http://schemas.microsoft.com/office/drawing/2014/main" id="{95D01B96-36A8-594A-9FA9-BCDEE39261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texto 3">
            <a:extLst>
              <a:ext uri="{FF2B5EF4-FFF2-40B4-BE49-F238E27FC236}">
                <a16:creationId xmlns:a16="http://schemas.microsoft.com/office/drawing/2014/main" id="{ACF62D7B-E83A-F14A-94CC-75E6C22937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F7E55E3F-F290-D94B-8208-4A692F2AD316}"/>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6" name="Marcador de pie de página 5">
            <a:extLst>
              <a:ext uri="{FF2B5EF4-FFF2-40B4-BE49-F238E27FC236}">
                <a16:creationId xmlns:a16="http://schemas.microsoft.com/office/drawing/2014/main" id="{59F8CB6C-6479-8548-BE9F-DC643157C3CA}"/>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EF69D87B-678E-B34B-AE18-B1E4633F92EC}"/>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3304709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CE24A2-B41F-8C48-ABC2-BAC9AD1DE9DE}"/>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lang="es-EC"/>
          </a:p>
        </p:txBody>
      </p:sp>
      <p:sp>
        <p:nvSpPr>
          <p:cNvPr id="3" name="Marcador de posición de imagen 2">
            <a:extLst>
              <a:ext uri="{FF2B5EF4-FFF2-40B4-BE49-F238E27FC236}">
                <a16:creationId xmlns:a16="http://schemas.microsoft.com/office/drawing/2014/main" id="{031B2391-BD91-F248-9BF8-E961C1F3BC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7BB3C974-9488-944B-8023-5BDD55CA9E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E7861823-EE5A-4145-9144-259997571A15}"/>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6" name="Marcador de pie de página 5">
            <a:extLst>
              <a:ext uri="{FF2B5EF4-FFF2-40B4-BE49-F238E27FC236}">
                <a16:creationId xmlns:a16="http://schemas.microsoft.com/office/drawing/2014/main" id="{87933263-7BC0-5D46-A89E-89CF2C38C7DF}"/>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5DB71C4C-EB7A-F043-A17D-4D85E4A152F8}"/>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1724258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D7D6EC-85AE-2E4F-8C08-F03FFF603E2A}"/>
              </a:ext>
            </a:extLst>
          </p:cNvPr>
          <p:cNvSpPr>
            <a:spLocks noGrp="1"/>
          </p:cNvSpPr>
          <p:nvPr>
            <p:ph type="title"/>
          </p:nvPr>
        </p:nvSpPr>
        <p:spPr/>
        <p:txBody>
          <a:bodyPr/>
          <a:lstStyle/>
          <a:p>
            <a:r>
              <a:rPr lang="es-MX"/>
              <a:t>Haz clic para modificar el estilo de título del patrón</a:t>
            </a:r>
            <a:endParaRPr lang="es-EC"/>
          </a:p>
        </p:txBody>
      </p:sp>
      <p:sp>
        <p:nvSpPr>
          <p:cNvPr id="3" name="Marcador de texto vertical 2">
            <a:extLst>
              <a:ext uri="{FF2B5EF4-FFF2-40B4-BE49-F238E27FC236}">
                <a16:creationId xmlns:a16="http://schemas.microsoft.com/office/drawing/2014/main" id="{35A110F8-4A7E-A44F-883C-8745D88F2CD8}"/>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fecha 3">
            <a:extLst>
              <a:ext uri="{FF2B5EF4-FFF2-40B4-BE49-F238E27FC236}">
                <a16:creationId xmlns:a16="http://schemas.microsoft.com/office/drawing/2014/main" id="{6EFA081E-1426-B04D-B0BA-F62F126EF1EB}"/>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5DB7C328-E447-7947-99D7-5EB76FC262A1}"/>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D001AD82-78CC-A148-A55B-D814562E3CFC}"/>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16838552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B329782-0D1C-254A-B5DB-0AE6E61AB8E5}"/>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lang="es-EC"/>
          </a:p>
        </p:txBody>
      </p:sp>
      <p:sp>
        <p:nvSpPr>
          <p:cNvPr id="3" name="Marcador de texto vertical 2">
            <a:extLst>
              <a:ext uri="{FF2B5EF4-FFF2-40B4-BE49-F238E27FC236}">
                <a16:creationId xmlns:a16="http://schemas.microsoft.com/office/drawing/2014/main" id="{EC3819A0-3A7D-0949-B6DA-CF05C29F36CC}"/>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fecha 3">
            <a:extLst>
              <a:ext uri="{FF2B5EF4-FFF2-40B4-BE49-F238E27FC236}">
                <a16:creationId xmlns:a16="http://schemas.microsoft.com/office/drawing/2014/main" id="{0865B8B0-F27E-1943-A74F-17A2DBE9F19D}"/>
              </a:ext>
            </a:extLst>
          </p:cNvPr>
          <p:cNvSpPr>
            <a:spLocks noGrp="1"/>
          </p:cNvSpPr>
          <p:nvPr>
            <p:ph type="dt" sz="half" idx="10"/>
          </p:nvPr>
        </p:nvSpPr>
        <p:spPr/>
        <p:txBody>
          <a:body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779426D0-72B7-C642-BE25-23A6BB6028C9}"/>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66864A4-89BF-6F4A-B27D-AFDCECD62B80}"/>
              </a:ext>
            </a:extLst>
          </p:cNvPr>
          <p:cNvSpPr>
            <a:spLocks noGrp="1"/>
          </p:cNvSpPr>
          <p:nvPr>
            <p:ph type="sldNum" sz="quarter" idx="12"/>
          </p:nvPr>
        </p:nvSpPr>
        <p:spPr/>
        <p:txBody>
          <a:bodyPr/>
          <a:lstStyle/>
          <a:p>
            <a:fld id="{9086460C-6B68-8A41-BC19-393EC9AA491B}" type="slidenum">
              <a:rPr lang="es-EC" smtClean="0"/>
              <a:t>‹Nº›</a:t>
            </a:fld>
            <a:endParaRPr lang="es-EC"/>
          </a:p>
        </p:txBody>
      </p:sp>
    </p:spTree>
    <p:extLst>
      <p:ext uri="{BB962C8B-B14F-4D97-AF65-F5344CB8AC3E}">
        <p14:creationId xmlns:p14="http://schemas.microsoft.com/office/powerpoint/2010/main" val="50587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30F55D7-C4C4-5E4B-8E16-9FA40A3788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EC"/>
          </a:p>
        </p:txBody>
      </p:sp>
      <p:sp>
        <p:nvSpPr>
          <p:cNvPr id="3" name="Marcador de texto 2">
            <a:extLst>
              <a:ext uri="{FF2B5EF4-FFF2-40B4-BE49-F238E27FC236}">
                <a16:creationId xmlns:a16="http://schemas.microsoft.com/office/drawing/2014/main" id="{12D611A1-439A-4D48-A348-27337AFE8D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EC"/>
          </a:p>
        </p:txBody>
      </p:sp>
      <p:sp>
        <p:nvSpPr>
          <p:cNvPr id="4" name="Marcador de fecha 3">
            <a:extLst>
              <a:ext uri="{FF2B5EF4-FFF2-40B4-BE49-F238E27FC236}">
                <a16:creationId xmlns:a16="http://schemas.microsoft.com/office/drawing/2014/main" id="{4576CE7A-F7A3-564E-943A-C6598B8892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F72093-0DA2-A941-ABB4-FFBA9D6B0DCA}" type="datetimeFigureOut">
              <a:rPr lang="es-EC" smtClean="0"/>
              <a:t>25/8/2021</a:t>
            </a:fld>
            <a:endParaRPr lang="es-EC"/>
          </a:p>
        </p:txBody>
      </p:sp>
      <p:sp>
        <p:nvSpPr>
          <p:cNvPr id="5" name="Marcador de pie de página 4">
            <a:extLst>
              <a:ext uri="{FF2B5EF4-FFF2-40B4-BE49-F238E27FC236}">
                <a16:creationId xmlns:a16="http://schemas.microsoft.com/office/drawing/2014/main" id="{DD43796C-A5EE-184C-9EDF-00A3216C21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E4B055E6-D08E-BE47-857B-9A7FB5BF66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86460C-6B68-8A41-BC19-393EC9AA491B}" type="slidenum">
              <a:rPr lang="es-EC" smtClean="0"/>
              <a:t>‹Nº›</a:t>
            </a:fld>
            <a:endParaRPr lang="es-EC"/>
          </a:p>
        </p:txBody>
      </p:sp>
    </p:spTree>
    <p:extLst>
      <p:ext uri="{BB962C8B-B14F-4D97-AF65-F5344CB8AC3E}">
        <p14:creationId xmlns:p14="http://schemas.microsoft.com/office/powerpoint/2010/main" val="21436762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1E41FE-0BD2-B94B-8C92-CEFB192F1E69}"/>
              </a:ext>
            </a:extLst>
          </p:cNvPr>
          <p:cNvSpPr>
            <a:spLocks noGrp="1"/>
          </p:cNvSpPr>
          <p:nvPr>
            <p:ph type="ctrTitle"/>
          </p:nvPr>
        </p:nvSpPr>
        <p:spPr/>
        <p:txBody>
          <a:bodyPr/>
          <a:lstStyle/>
          <a:p>
            <a:r>
              <a:rPr lang="en-US" dirty="0" err="1"/>
              <a:t>Integraci</a:t>
            </a:r>
            <a:r>
              <a:rPr lang="es-419" dirty="0" err="1"/>
              <a:t>ón</a:t>
            </a:r>
            <a:r>
              <a:rPr lang="es-419" dirty="0"/>
              <a:t> de sistemas</a:t>
            </a:r>
            <a:endParaRPr lang="es-EC" dirty="0"/>
          </a:p>
        </p:txBody>
      </p:sp>
      <p:sp>
        <p:nvSpPr>
          <p:cNvPr id="3" name="Subtítulo 2">
            <a:extLst>
              <a:ext uri="{FF2B5EF4-FFF2-40B4-BE49-F238E27FC236}">
                <a16:creationId xmlns:a16="http://schemas.microsoft.com/office/drawing/2014/main" id="{F75AF986-3998-5C4B-9A67-184A20606552}"/>
              </a:ext>
            </a:extLst>
          </p:cNvPr>
          <p:cNvSpPr>
            <a:spLocks noGrp="1"/>
          </p:cNvSpPr>
          <p:nvPr>
            <p:ph type="subTitle" idx="1"/>
          </p:nvPr>
        </p:nvSpPr>
        <p:spPr/>
        <p:txBody>
          <a:bodyPr>
            <a:normAutofit lnSpcReduction="10000"/>
          </a:bodyPr>
          <a:lstStyle/>
          <a:p>
            <a:r>
              <a:rPr lang="es-EC" b="1" dirty="0"/>
              <a:t>Service-Oriented Architecture (SOA) </a:t>
            </a:r>
          </a:p>
          <a:p>
            <a:r>
              <a:rPr lang="es-EC" dirty="0"/>
              <a:t>Damián Nicolalde R.</a:t>
            </a:r>
          </a:p>
          <a:p>
            <a:r>
              <a:rPr lang="es-EC" dirty="0"/>
              <a:t>2021</a:t>
            </a:r>
          </a:p>
          <a:p>
            <a:r>
              <a:rPr lang="es-EC" dirty="0"/>
              <a:t>danicolalde@puce.edu.ec</a:t>
            </a:r>
          </a:p>
        </p:txBody>
      </p:sp>
    </p:spTree>
    <p:extLst>
      <p:ext uri="{BB962C8B-B14F-4D97-AF65-F5344CB8AC3E}">
        <p14:creationId xmlns:p14="http://schemas.microsoft.com/office/powerpoint/2010/main" val="424560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1F0A07-AED4-9846-BD29-F2D703491592}"/>
              </a:ext>
            </a:extLst>
          </p:cNvPr>
          <p:cNvSpPr>
            <a:spLocks noGrp="1"/>
          </p:cNvSpPr>
          <p:nvPr>
            <p:ph type="title"/>
          </p:nvPr>
        </p:nvSpPr>
        <p:spPr/>
        <p:txBody>
          <a:bodyPr/>
          <a:lstStyle/>
          <a:p>
            <a:r>
              <a:rPr lang="es-EC" b="1" dirty="0"/>
              <a:t>Service-Oriented Architecture (SOA) </a:t>
            </a:r>
            <a:endParaRPr lang="es-EC" dirty="0"/>
          </a:p>
        </p:txBody>
      </p:sp>
      <p:sp>
        <p:nvSpPr>
          <p:cNvPr id="3" name="Marcador de contenido 2">
            <a:extLst>
              <a:ext uri="{FF2B5EF4-FFF2-40B4-BE49-F238E27FC236}">
                <a16:creationId xmlns:a16="http://schemas.microsoft.com/office/drawing/2014/main" id="{FE2A30C1-C1D8-8E4C-B2C5-51B16EF5ECD1}"/>
              </a:ext>
            </a:extLst>
          </p:cNvPr>
          <p:cNvSpPr>
            <a:spLocks noGrp="1"/>
          </p:cNvSpPr>
          <p:nvPr>
            <p:ph idx="1"/>
          </p:nvPr>
        </p:nvSpPr>
        <p:spPr/>
        <p:txBody>
          <a:bodyPr>
            <a:normAutofit lnSpcReduction="10000"/>
          </a:bodyPr>
          <a:lstStyle/>
          <a:p>
            <a:r>
              <a:rPr lang="es-EC" dirty="0"/>
              <a:t>La arquitectura SOA (Service-Oriented Architecture), incentiva a que las empresas creen servicios interoperables que puedan ser aprovechados por toda la organización. Dichos servicios deben de ser construidos utilizando estándares abiertos, lo que permita que pueden ser consumidos por cualquier aplicación sin importar en que tecnología esté desarrollada.</a:t>
            </a:r>
          </a:p>
          <a:p>
            <a:r>
              <a:rPr lang="es-EC" dirty="0"/>
              <a:t>SOA solo promueva la creación de servicios para lograr la integración de aplicaciones, por lo que se podría decir que CORBA es el precursor de SOA, aunque al momento de crear CORBA no existía el término de SOA. Por su parte, el nacimiento de SOA como arquitectura no solo trae el concepto de crear servicios si no un nuevo paradigma que revoluciono la forma en que construimos software de hoy en día.</a:t>
            </a:r>
          </a:p>
          <a:p>
            <a:endParaRPr lang="es-EC" dirty="0"/>
          </a:p>
        </p:txBody>
      </p:sp>
    </p:spTree>
    <p:extLst>
      <p:ext uri="{BB962C8B-B14F-4D97-AF65-F5344CB8AC3E}">
        <p14:creationId xmlns:p14="http://schemas.microsoft.com/office/powerpoint/2010/main" val="37961189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A339B8-C86F-F54C-A5F4-3728E79C8E14}"/>
              </a:ext>
            </a:extLst>
          </p:cNvPr>
          <p:cNvSpPr>
            <a:spLocks noGrp="1"/>
          </p:cNvSpPr>
          <p:nvPr>
            <p:ph type="title"/>
          </p:nvPr>
        </p:nvSpPr>
        <p:spPr/>
        <p:txBody>
          <a:bodyPr/>
          <a:lstStyle/>
          <a:p>
            <a:r>
              <a:rPr lang="es-EC" dirty="0"/>
              <a:t>Como se estructura una arquitectura de SOA</a:t>
            </a:r>
          </a:p>
        </p:txBody>
      </p:sp>
      <p:sp>
        <p:nvSpPr>
          <p:cNvPr id="3" name="Marcador de contenido 2">
            <a:extLst>
              <a:ext uri="{FF2B5EF4-FFF2-40B4-BE49-F238E27FC236}">
                <a16:creationId xmlns:a16="http://schemas.microsoft.com/office/drawing/2014/main" id="{29A97A88-2FE1-E547-9996-41F6D514BB78}"/>
              </a:ext>
            </a:extLst>
          </p:cNvPr>
          <p:cNvSpPr>
            <a:spLocks noGrp="1"/>
          </p:cNvSpPr>
          <p:nvPr>
            <p:ph idx="1"/>
          </p:nvPr>
        </p:nvSpPr>
        <p:spPr>
          <a:xfrm>
            <a:off x="838200" y="1825625"/>
            <a:ext cx="10515600" cy="1019175"/>
          </a:xfrm>
        </p:spPr>
        <p:txBody>
          <a:bodyPr>
            <a:normAutofit fontScale="70000" lnSpcReduction="20000"/>
          </a:bodyPr>
          <a:lstStyle/>
          <a:p>
            <a:r>
              <a:rPr lang="es-EC" dirty="0"/>
              <a:t>Lo primero que tenemos que entender al momento de implementar una arquitectura SOA es que, todas las aplicaciones que construimos están diseñadas para ser integradas con otras aplicaciones, por lo que deben de exponer como servicios todas las operaciones necesarias para que otras aplicaciones pueden interactuar con ella.</a:t>
            </a:r>
          </a:p>
          <a:p>
            <a:endParaRPr lang="es-EC" dirty="0"/>
          </a:p>
        </p:txBody>
      </p:sp>
      <p:pic>
        <p:nvPicPr>
          <p:cNvPr id="4" name="Imagen 3">
            <a:extLst>
              <a:ext uri="{FF2B5EF4-FFF2-40B4-BE49-F238E27FC236}">
                <a16:creationId xmlns:a16="http://schemas.microsoft.com/office/drawing/2014/main" id="{4E6D9B21-D5FF-0B45-9ADD-69344FBC5888}"/>
              </a:ext>
            </a:extLst>
          </p:cNvPr>
          <p:cNvPicPr>
            <a:picLocks noChangeAspect="1"/>
          </p:cNvPicPr>
          <p:nvPr/>
        </p:nvPicPr>
        <p:blipFill>
          <a:blip r:embed="rId3"/>
          <a:stretch>
            <a:fillRect/>
          </a:stretch>
        </p:blipFill>
        <p:spPr>
          <a:xfrm>
            <a:off x="2342343" y="2801390"/>
            <a:ext cx="7098606" cy="3878263"/>
          </a:xfrm>
          <a:prstGeom prst="rect">
            <a:avLst/>
          </a:prstGeom>
        </p:spPr>
      </p:pic>
    </p:spTree>
    <p:extLst>
      <p:ext uri="{BB962C8B-B14F-4D97-AF65-F5344CB8AC3E}">
        <p14:creationId xmlns:p14="http://schemas.microsoft.com/office/powerpoint/2010/main" val="3939880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6C138E-D4C2-3B48-848F-C5F3F3DD0D1C}"/>
              </a:ext>
            </a:extLst>
          </p:cNvPr>
          <p:cNvSpPr>
            <a:spLocks noGrp="1"/>
          </p:cNvSpPr>
          <p:nvPr>
            <p:ph type="title"/>
          </p:nvPr>
        </p:nvSpPr>
        <p:spPr/>
        <p:txBody>
          <a:bodyPr/>
          <a:lstStyle/>
          <a:p>
            <a:r>
              <a:rPr lang="es-EC" dirty="0"/>
              <a:t>Independiente de la tecnología</a:t>
            </a:r>
          </a:p>
        </p:txBody>
      </p:sp>
      <p:sp>
        <p:nvSpPr>
          <p:cNvPr id="3" name="Marcador de contenido 2">
            <a:extLst>
              <a:ext uri="{FF2B5EF4-FFF2-40B4-BE49-F238E27FC236}">
                <a16:creationId xmlns:a16="http://schemas.microsoft.com/office/drawing/2014/main" id="{3ABD0D72-09B7-D14F-81FE-5B88A7595D93}"/>
              </a:ext>
            </a:extLst>
          </p:cNvPr>
          <p:cNvSpPr>
            <a:spLocks noGrp="1"/>
          </p:cNvSpPr>
          <p:nvPr>
            <p:ph idx="1"/>
          </p:nvPr>
        </p:nvSpPr>
        <p:spPr>
          <a:xfrm>
            <a:off x="838200" y="1825624"/>
            <a:ext cx="10515600" cy="4807931"/>
          </a:xfrm>
        </p:spPr>
        <p:txBody>
          <a:bodyPr>
            <a:normAutofit fontScale="85000" lnSpcReduction="20000"/>
          </a:bodyPr>
          <a:lstStyle/>
          <a:p>
            <a:r>
              <a:rPr lang="es-EC" dirty="0"/>
              <a:t>Lo primero que debemos de analizar es que, los servicios deben ser construidos con estándares abiertos, lo que quiere decir que es independiente del sistema operativo o del lenguaje de programación. Hoy en día conocemos a estos servicios como Web Services.</a:t>
            </a:r>
          </a:p>
          <a:p>
            <a:r>
              <a:rPr lang="es-EC" dirty="0"/>
              <a:t>Para que un servicio sea considerado un Web Service, debe de publicar un WSDL (Web Services Description Language), el cual es un contrato que describe las operaciones que expone el servicio, los tipos de datos esperados en formato XSD (XML Schema).</a:t>
            </a:r>
          </a:p>
          <a:p>
            <a:r>
              <a:rPr lang="es-EC" dirty="0"/>
              <a:t>Este contrato (WSDL) será utilizado por el consumidor para crear mensajes en formato XML para enviar la información, los cuales deberán de cumplir al pie de la letra la estructura definida en el contrato.</a:t>
            </a:r>
          </a:p>
          <a:p>
            <a:r>
              <a:rPr lang="es-EC" dirty="0"/>
              <a:t>Finalmente, el mensaje es envuelto en el protocolo SOAP (Simple Object Access Protocol), el cual es otro protocolo estándar que divide el mensaje en dos secciones, el header y el payload, el primero son una serie de parámetros de cabecera de control, que ayudan a los sistemas a entender el payload, por otra parte, el payload es el mensaje transmitido como tal (XML).</a:t>
            </a:r>
          </a:p>
          <a:p>
            <a:endParaRPr lang="es-EC" dirty="0"/>
          </a:p>
          <a:p>
            <a:endParaRPr lang="es-EC" dirty="0"/>
          </a:p>
          <a:p>
            <a:endParaRPr lang="es-EC" dirty="0"/>
          </a:p>
          <a:p>
            <a:endParaRPr lang="es-EC" dirty="0"/>
          </a:p>
        </p:txBody>
      </p:sp>
    </p:spTree>
    <p:extLst>
      <p:ext uri="{BB962C8B-B14F-4D97-AF65-F5344CB8AC3E}">
        <p14:creationId xmlns:p14="http://schemas.microsoft.com/office/powerpoint/2010/main" val="2225099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6C138E-D4C2-3B48-848F-C5F3F3DD0D1C}"/>
              </a:ext>
            </a:extLst>
          </p:cNvPr>
          <p:cNvSpPr>
            <a:spLocks noGrp="1"/>
          </p:cNvSpPr>
          <p:nvPr>
            <p:ph type="title"/>
          </p:nvPr>
        </p:nvSpPr>
        <p:spPr/>
        <p:txBody>
          <a:bodyPr/>
          <a:lstStyle/>
          <a:p>
            <a:r>
              <a:rPr lang="es-EC" dirty="0"/>
              <a:t>Independiente de la tecnología</a:t>
            </a:r>
          </a:p>
        </p:txBody>
      </p:sp>
      <p:pic>
        <p:nvPicPr>
          <p:cNvPr id="12" name="Imagen 11">
            <a:extLst>
              <a:ext uri="{FF2B5EF4-FFF2-40B4-BE49-F238E27FC236}">
                <a16:creationId xmlns:a16="http://schemas.microsoft.com/office/drawing/2014/main" id="{924E4094-DE1F-2342-BA51-12A794834CD6}"/>
              </a:ext>
            </a:extLst>
          </p:cNvPr>
          <p:cNvPicPr>
            <a:picLocks noChangeAspect="1"/>
          </p:cNvPicPr>
          <p:nvPr/>
        </p:nvPicPr>
        <p:blipFill>
          <a:blip r:embed="rId3"/>
          <a:stretch>
            <a:fillRect/>
          </a:stretch>
        </p:blipFill>
        <p:spPr>
          <a:xfrm>
            <a:off x="2406976" y="2195424"/>
            <a:ext cx="7378047" cy="2424953"/>
          </a:xfrm>
          <a:prstGeom prst="rect">
            <a:avLst/>
          </a:prstGeom>
        </p:spPr>
      </p:pic>
    </p:spTree>
    <p:extLst>
      <p:ext uri="{BB962C8B-B14F-4D97-AF65-F5344CB8AC3E}">
        <p14:creationId xmlns:p14="http://schemas.microsoft.com/office/powerpoint/2010/main" val="1893537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3298C-78F0-F84C-94F5-13BBB082DBB0}"/>
              </a:ext>
            </a:extLst>
          </p:cNvPr>
          <p:cNvSpPr>
            <a:spLocks noGrp="1"/>
          </p:cNvSpPr>
          <p:nvPr>
            <p:ph type="title"/>
          </p:nvPr>
        </p:nvSpPr>
        <p:spPr/>
        <p:txBody>
          <a:bodyPr/>
          <a:lstStyle/>
          <a:p>
            <a:r>
              <a:rPr lang="es-EC" dirty="0"/>
              <a:t>Reutilización	</a:t>
            </a:r>
          </a:p>
        </p:txBody>
      </p:sp>
      <p:sp>
        <p:nvSpPr>
          <p:cNvPr id="3" name="Marcador de contenido 2">
            <a:extLst>
              <a:ext uri="{FF2B5EF4-FFF2-40B4-BE49-F238E27FC236}">
                <a16:creationId xmlns:a16="http://schemas.microsoft.com/office/drawing/2014/main" id="{DD0DD59E-D753-7C48-851A-341FFF24E7FB}"/>
              </a:ext>
            </a:extLst>
          </p:cNvPr>
          <p:cNvSpPr>
            <a:spLocks noGrp="1"/>
          </p:cNvSpPr>
          <p:nvPr>
            <p:ph idx="1"/>
          </p:nvPr>
        </p:nvSpPr>
        <p:spPr/>
        <p:txBody>
          <a:bodyPr>
            <a:normAutofit fontScale="92500" lnSpcReduction="10000"/>
          </a:bodyPr>
          <a:lstStyle/>
          <a:p>
            <a:r>
              <a:rPr lang="es-EC" dirty="0"/>
              <a:t>Cuando nació DCOM y CORBA no existía una cultura de reutilización, por lo que lo que se exponía eran por lo general operaciones de negocio complejas que realizaban varios pasos, lo que hacía muy difícil que una operación se pudiera ser reutilizada por otras aplicaciones, en este sentido, una operación era construida específicamente para una integración especifica.</a:t>
            </a:r>
          </a:p>
          <a:p>
            <a:r>
              <a:rPr lang="es-EC" u="sng" dirty="0"/>
              <a:t>Por el contrario, SOA promueve la construcción de servicios que hagan una sola tarea, lo que hace que en lugar de tener 1 servicio que haga 10 cosas, mejor hacemos 10 servicios que hagan 1 cosas. En principio se puede escuchar raro tener que crear más servicios, sin embargo, al construir servicios que hagan una sola tarea los hace mucho más reutilizables, por otra parte, es posible crear nuevos servicios basado en los anteriores, lo que conocemos como servicios compuestos</a:t>
            </a:r>
            <a:r>
              <a:rPr lang="es-EC" dirty="0"/>
              <a:t>.</a:t>
            </a:r>
          </a:p>
          <a:p>
            <a:endParaRPr lang="es-EC" dirty="0"/>
          </a:p>
        </p:txBody>
      </p:sp>
    </p:spTree>
    <p:extLst>
      <p:ext uri="{BB962C8B-B14F-4D97-AF65-F5344CB8AC3E}">
        <p14:creationId xmlns:p14="http://schemas.microsoft.com/office/powerpoint/2010/main" val="1780331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3298C-78F0-F84C-94F5-13BBB082DBB0}"/>
              </a:ext>
            </a:extLst>
          </p:cNvPr>
          <p:cNvSpPr>
            <a:spLocks noGrp="1"/>
          </p:cNvSpPr>
          <p:nvPr>
            <p:ph type="title"/>
          </p:nvPr>
        </p:nvSpPr>
        <p:spPr/>
        <p:txBody>
          <a:bodyPr/>
          <a:lstStyle/>
          <a:p>
            <a:r>
              <a:rPr lang="es-EC" dirty="0"/>
              <a:t>Reutilización	</a:t>
            </a:r>
          </a:p>
        </p:txBody>
      </p:sp>
      <p:sp>
        <p:nvSpPr>
          <p:cNvPr id="3" name="Marcador de contenido 2">
            <a:extLst>
              <a:ext uri="{FF2B5EF4-FFF2-40B4-BE49-F238E27FC236}">
                <a16:creationId xmlns:a16="http://schemas.microsoft.com/office/drawing/2014/main" id="{DD0DD59E-D753-7C48-851A-341FFF24E7FB}"/>
              </a:ext>
            </a:extLst>
          </p:cNvPr>
          <p:cNvSpPr>
            <a:spLocks noGrp="1"/>
          </p:cNvSpPr>
          <p:nvPr>
            <p:ph idx="1"/>
          </p:nvPr>
        </p:nvSpPr>
        <p:spPr/>
        <p:txBody>
          <a:bodyPr>
            <a:normAutofit/>
          </a:bodyPr>
          <a:lstStyle/>
          <a:p>
            <a:r>
              <a:rPr lang="es-EC" dirty="0"/>
              <a:t>Imagina el siguiente escenario. Eres el programador de un Banco y te han pedido que realices una serie de servicios para operar un cajero automático, en el cual puedes consultar el saldo y realizar retiros. Como regla, realizar un retiro concluye con mostrarle al usuario su nuevo saldo. La respuesta obvia sería crear dos servicios, uno que consulte el saldo y otro que haga el retiro y luego consulte el saldo, sin embargo, para que consultamos nuevamente el saldo en el retiro si ya tenemos un servicio que lo hace, entonces mejor realizamos el retiro y luego llamamos al servicio de consulta de saldo:</a:t>
            </a:r>
          </a:p>
          <a:p>
            <a:endParaRPr lang="es-EC" dirty="0"/>
          </a:p>
        </p:txBody>
      </p:sp>
    </p:spTree>
    <p:extLst>
      <p:ext uri="{BB962C8B-B14F-4D97-AF65-F5344CB8AC3E}">
        <p14:creationId xmlns:p14="http://schemas.microsoft.com/office/powerpoint/2010/main" val="13689527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D3298C-78F0-F84C-94F5-13BBB082DBB0}"/>
              </a:ext>
            </a:extLst>
          </p:cNvPr>
          <p:cNvSpPr>
            <a:spLocks noGrp="1"/>
          </p:cNvSpPr>
          <p:nvPr>
            <p:ph type="title"/>
          </p:nvPr>
        </p:nvSpPr>
        <p:spPr/>
        <p:txBody>
          <a:bodyPr/>
          <a:lstStyle/>
          <a:p>
            <a:r>
              <a:rPr lang="es-EC" dirty="0"/>
              <a:t>Reutilización	</a:t>
            </a:r>
          </a:p>
        </p:txBody>
      </p:sp>
      <p:pic>
        <p:nvPicPr>
          <p:cNvPr id="4" name="Marcador de contenido 3">
            <a:extLst>
              <a:ext uri="{FF2B5EF4-FFF2-40B4-BE49-F238E27FC236}">
                <a16:creationId xmlns:a16="http://schemas.microsoft.com/office/drawing/2014/main" id="{DC8EF8CD-BAC1-8A4E-824D-9EA01DCD0ED3}"/>
              </a:ext>
            </a:extLst>
          </p:cNvPr>
          <p:cNvPicPr>
            <a:picLocks noGrp="1" noChangeAspect="1"/>
          </p:cNvPicPr>
          <p:nvPr>
            <p:ph idx="1"/>
          </p:nvPr>
        </p:nvPicPr>
        <p:blipFill>
          <a:blip r:embed="rId3"/>
          <a:stretch>
            <a:fillRect/>
          </a:stretch>
        </p:blipFill>
        <p:spPr>
          <a:xfrm>
            <a:off x="1967127" y="1601789"/>
            <a:ext cx="8257746" cy="4745831"/>
          </a:xfrm>
          <a:prstGeom prst="rect">
            <a:avLst/>
          </a:prstGeom>
        </p:spPr>
      </p:pic>
    </p:spTree>
    <p:extLst>
      <p:ext uri="{BB962C8B-B14F-4D97-AF65-F5344CB8AC3E}">
        <p14:creationId xmlns:p14="http://schemas.microsoft.com/office/powerpoint/2010/main" val="1772417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8B1C97-1911-884D-B8B5-B90485FE5A7D}"/>
              </a:ext>
            </a:extLst>
          </p:cNvPr>
          <p:cNvSpPr>
            <a:spLocks noGrp="1"/>
          </p:cNvSpPr>
          <p:nvPr>
            <p:ph type="title"/>
          </p:nvPr>
        </p:nvSpPr>
        <p:spPr/>
        <p:txBody>
          <a:bodyPr/>
          <a:lstStyle/>
          <a:p>
            <a:r>
              <a:rPr lang="es-EC" dirty="0"/>
              <a:t>Reutilización</a:t>
            </a:r>
          </a:p>
        </p:txBody>
      </p:sp>
      <p:pic>
        <p:nvPicPr>
          <p:cNvPr id="7" name="Marcador de contenido 6">
            <a:extLst>
              <a:ext uri="{FF2B5EF4-FFF2-40B4-BE49-F238E27FC236}">
                <a16:creationId xmlns:a16="http://schemas.microsoft.com/office/drawing/2014/main" id="{D022DE61-BA63-D343-8B96-DD53CECA829B}"/>
              </a:ext>
            </a:extLst>
          </p:cNvPr>
          <p:cNvPicPr>
            <a:picLocks noGrp="1" noChangeAspect="1"/>
          </p:cNvPicPr>
          <p:nvPr>
            <p:ph idx="1"/>
          </p:nvPr>
        </p:nvPicPr>
        <p:blipFill>
          <a:blip r:embed="rId3"/>
          <a:stretch>
            <a:fillRect/>
          </a:stretch>
        </p:blipFill>
        <p:spPr>
          <a:xfrm>
            <a:off x="1825399" y="1466193"/>
            <a:ext cx="7728503" cy="4587771"/>
          </a:xfrm>
          <a:prstGeom prst="rect">
            <a:avLst/>
          </a:prstGeom>
        </p:spPr>
      </p:pic>
    </p:spTree>
    <p:extLst>
      <p:ext uri="{BB962C8B-B14F-4D97-AF65-F5344CB8AC3E}">
        <p14:creationId xmlns:p14="http://schemas.microsoft.com/office/powerpoint/2010/main" val="221890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5B8687-EFD2-4C4B-A707-4100891681DD}"/>
              </a:ext>
            </a:extLst>
          </p:cNvPr>
          <p:cNvSpPr>
            <a:spLocks noGrp="1"/>
          </p:cNvSpPr>
          <p:nvPr>
            <p:ph type="title"/>
          </p:nvPr>
        </p:nvSpPr>
        <p:spPr/>
        <p:txBody>
          <a:bodyPr/>
          <a:lstStyle/>
          <a:p>
            <a:r>
              <a:rPr lang="es-EC" dirty="0"/>
              <a:t>Encapsulamiento</a:t>
            </a:r>
          </a:p>
        </p:txBody>
      </p:sp>
      <p:sp>
        <p:nvSpPr>
          <p:cNvPr id="3" name="Marcador de contenido 2">
            <a:extLst>
              <a:ext uri="{FF2B5EF4-FFF2-40B4-BE49-F238E27FC236}">
                <a16:creationId xmlns:a16="http://schemas.microsoft.com/office/drawing/2014/main" id="{58D9EF0C-25D0-7245-8943-39176467F747}"/>
              </a:ext>
            </a:extLst>
          </p:cNvPr>
          <p:cNvSpPr>
            <a:spLocks noGrp="1"/>
          </p:cNvSpPr>
          <p:nvPr>
            <p:ph idx="1"/>
          </p:nvPr>
        </p:nvSpPr>
        <p:spPr/>
        <p:txBody>
          <a:bodyPr>
            <a:normAutofit/>
          </a:bodyPr>
          <a:lstStyle/>
          <a:p>
            <a:r>
              <a:rPr lang="es-EC" dirty="0"/>
              <a:t>La encapsulación es una de las características más importantes de SOA, pues permite ocultar la complejidad de un sistema detrás de una serie de servicios de alto nivel. Solo imagina, que es más fácil, pedirle a un servicio que te consulte un pedido con solo el número de pedido, o tener que ir a la base de dato del sistema, saber todas las tablas y campos que tenemos que consultar y retornarlas. Creo que no queda duda que el servicio es mucho más simple, pues no nos tenemos que preocupar en donde están los datos ni como los tenemos que retornar, pues le servicio lo hace por ti.</a:t>
            </a:r>
          </a:p>
          <a:p>
            <a:endParaRPr lang="es-EC" dirty="0"/>
          </a:p>
        </p:txBody>
      </p:sp>
    </p:spTree>
    <p:extLst>
      <p:ext uri="{BB962C8B-B14F-4D97-AF65-F5344CB8AC3E}">
        <p14:creationId xmlns:p14="http://schemas.microsoft.com/office/powerpoint/2010/main" val="3249183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519239-726B-9942-93F2-7AF194D9037E}"/>
              </a:ext>
            </a:extLst>
          </p:cNvPr>
          <p:cNvSpPr>
            <a:spLocks noGrp="1"/>
          </p:cNvSpPr>
          <p:nvPr>
            <p:ph type="title"/>
          </p:nvPr>
        </p:nvSpPr>
        <p:spPr/>
        <p:txBody>
          <a:bodyPr/>
          <a:lstStyle/>
          <a:p>
            <a:r>
              <a:rPr lang="es-EC" dirty="0"/>
              <a:t>Encapsulamiento</a:t>
            </a:r>
          </a:p>
        </p:txBody>
      </p:sp>
      <p:pic>
        <p:nvPicPr>
          <p:cNvPr id="4" name="Marcador de contenido 3">
            <a:extLst>
              <a:ext uri="{FF2B5EF4-FFF2-40B4-BE49-F238E27FC236}">
                <a16:creationId xmlns:a16="http://schemas.microsoft.com/office/drawing/2014/main" id="{611C3D12-F1B8-2C4C-850A-1041BB671994}"/>
              </a:ext>
            </a:extLst>
          </p:cNvPr>
          <p:cNvPicPr>
            <a:picLocks noGrp="1" noChangeAspect="1"/>
          </p:cNvPicPr>
          <p:nvPr>
            <p:ph idx="1"/>
          </p:nvPr>
        </p:nvPicPr>
        <p:blipFill>
          <a:blip r:embed="rId3"/>
          <a:stretch>
            <a:fillRect/>
          </a:stretch>
        </p:blipFill>
        <p:spPr>
          <a:xfrm>
            <a:off x="1047969" y="1690688"/>
            <a:ext cx="6627648" cy="3838786"/>
          </a:xfrm>
          <a:prstGeom prst="rect">
            <a:avLst/>
          </a:prstGeom>
        </p:spPr>
      </p:pic>
      <p:sp>
        <p:nvSpPr>
          <p:cNvPr id="5" name="Rectángulo 4">
            <a:extLst>
              <a:ext uri="{FF2B5EF4-FFF2-40B4-BE49-F238E27FC236}">
                <a16:creationId xmlns:a16="http://schemas.microsoft.com/office/drawing/2014/main" id="{475E5235-B3F3-8342-8B63-508E83764E9A}"/>
              </a:ext>
            </a:extLst>
          </p:cNvPr>
          <p:cNvSpPr/>
          <p:nvPr/>
        </p:nvSpPr>
        <p:spPr>
          <a:xfrm>
            <a:off x="8716141" y="3843339"/>
            <a:ext cx="3092231" cy="2585323"/>
          </a:xfrm>
          <a:prstGeom prst="rect">
            <a:avLst/>
          </a:prstGeom>
        </p:spPr>
        <p:txBody>
          <a:bodyPr wrap="square">
            <a:spAutoFit/>
          </a:bodyPr>
          <a:lstStyle/>
          <a:p>
            <a:r>
              <a:rPr lang="es-EC" dirty="0">
                <a:solidFill>
                  <a:srgbClr val="404040"/>
                </a:solidFill>
                <a:effectLst/>
                <a:latin typeface="Helvetica" pitchFamily="2" charset="0"/>
              </a:rPr>
              <a:t>No compartas las bases de datos</a:t>
            </a:r>
          </a:p>
          <a:p>
            <a:endParaRPr lang="es-EC" dirty="0">
              <a:solidFill>
                <a:srgbClr val="404040"/>
              </a:solidFill>
              <a:effectLst/>
              <a:latin typeface="Helvetica" pitchFamily="2" charset="0"/>
            </a:endParaRPr>
          </a:p>
          <a:p>
            <a:r>
              <a:rPr lang="es-EC" dirty="0">
                <a:solidFill>
                  <a:srgbClr val="404040"/>
                </a:solidFill>
                <a:effectLst/>
                <a:latin typeface="Helvetica" pitchFamily="2" charset="0"/>
              </a:rPr>
              <a:t>Hoy en día es muy mal visto que una aplicación ajena</a:t>
            </a:r>
          </a:p>
          <a:p>
            <a:r>
              <a:rPr lang="es-EC" dirty="0">
                <a:solidFill>
                  <a:srgbClr val="404040"/>
                </a:solidFill>
                <a:effectLst/>
                <a:latin typeface="Helvetica" pitchFamily="2" charset="0"/>
              </a:rPr>
              <a:t>modifique directamente la base de datos, pues puede</a:t>
            </a:r>
          </a:p>
          <a:p>
            <a:r>
              <a:rPr lang="es-EC" dirty="0">
                <a:solidFill>
                  <a:srgbClr val="404040"/>
                </a:solidFill>
                <a:effectLst/>
                <a:latin typeface="Helvetica" pitchFamily="2" charset="0"/>
              </a:rPr>
              <a:t>llevar a problemas serios de integridad de los datos.</a:t>
            </a:r>
          </a:p>
        </p:txBody>
      </p:sp>
    </p:spTree>
    <p:extLst>
      <p:ext uri="{BB962C8B-B14F-4D97-AF65-F5344CB8AC3E}">
        <p14:creationId xmlns:p14="http://schemas.microsoft.com/office/powerpoint/2010/main" val="2396517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94120D-CD66-2B4B-A898-D830BA43E9DB}"/>
              </a:ext>
            </a:extLst>
          </p:cNvPr>
          <p:cNvSpPr>
            <a:spLocks noGrp="1"/>
          </p:cNvSpPr>
          <p:nvPr>
            <p:ph type="title"/>
          </p:nvPr>
        </p:nvSpPr>
        <p:spPr/>
        <p:txBody>
          <a:bodyPr/>
          <a:lstStyle/>
          <a:p>
            <a:r>
              <a:rPr lang="es-EC" dirty="0"/>
              <a:t>Encapsulamiento</a:t>
            </a:r>
          </a:p>
        </p:txBody>
      </p:sp>
      <p:pic>
        <p:nvPicPr>
          <p:cNvPr id="4" name="Marcador de contenido 3">
            <a:extLst>
              <a:ext uri="{FF2B5EF4-FFF2-40B4-BE49-F238E27FC236}">
                <a16:creationId xmlns:a16="http://schemas.microsoft.com/office/drawing/2014/main" id="{684E0F3E-EFF1-2142-8121-43436DCD9834}"/>
              </a:ext>
            </a:extLst>
          </p:cNvPr>
          <p:cNvPicPr>
            <a:picLocks noGrp="1" noChangeAspect="1"/>
          </p:cNvPicPr>
          <p:nvPr>
            <p:ph idx="1"/>
          </p:nvPr>
        </p:nvPicPr>
        <p:blipFill>
          <a:blip r:embed="rId3"/>
          <a:stretch>
            <a:fillRect/>
          </a:stretch>
        </p:blipFill>
        <p:spPr>
          <a:xfrm>
            <a:off x="2522483" y="1961818"/>
            <a:ext cx="6949150" cy="3966016"/>
          </a:xfrm>
          <a:prstGeom prst="rect">
            <a:avLst/>
          </a:prstGeom>
        </p:spPr>
      </p:pic>
    </p:spTree>
    <p:extLst>
      <p:ext uri="{BB962C8B-B14F-4D97-AF65-F5344CB8AC3E}">
        <p14:creationId xmlns:p14="http://schemas.microsoft.com/office/powerpoint/2010/main" val="897500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BB8EDE-BF41-A840-A0A0-E393BC9BCF8B}"/>
              </a:ext>
            </a:extLst>
          </p:cNvPr>
          <p:cNvSpPr>
            <a:spLocks noGrp="1"/>
          </p:cNvSpPr>
          <p:nvPr>
            <p:ph type="title"/>
          </p:nvPr>
        </p:nvSpPr>
        <p:spPr/>
        <p:txBody>
          <a:bodyPr/>
          <a:lstStyle/>
          <a:p>
            <a:r>
              <a:rPr lang="es-EC" dirty="0"/>
              <a:t>Enterprise Service Bus (ESB)</a:t>
            </a:r>
          </a:p>
        </p:txBody>
      </p:sp>
      <p:sp>
        <p:nvSpPr>
          <p:cNvPr id="3" name="Marcador de contenido 2">
            <a:extLst>
              <a:ext uri="{FF2B5EF4-FFF2-40B4-BE49-F238E27FC236}">
                <a16:creationId xmlns:a16="http://schemas.microsoft.com/office/drawing/2014/main" id="{14197998-D69F-144D-B1D0-7035E7AE3E46}"/>
              </a:ext>
            </a:extLst>
          </p:cNvPr>
          <p:cNvSpPr>
            <a:spLocks noGrp="1"/>
          </p:cNvSpPr>
          <p:nvPr>
            <p:ph idx="1"/>
          </p:nvPr>
        </p:nvSpPr>
        <p:spPr/>
        <p:txBody>
          <a:bodyPr>
            <a:normAutofit fontScale="85000" lnSpcReduction="10000"/>
          </a:bodyPr>
          <a:lstStyle/>
          <a:p>
            <a:r>
              <a:rPr lang="es-EC" dirty="0"/>
              <a:t>Uno de los componentes más importantes cuando hablamos de SOA son los Services Bus, el cual es un componente que permite crear abstracciones de los servicios expuestos de una aplicación para evitar el acoplamiento entre los dos sistemas.</a:t>
            </a:r>
          </a:p>
          <a:p>
            <a:r>
              <a:rPr lang="es-EC" dirty="0"/>
              <a:t>Una de las principales problemáticas cuando comenzamos a trabajar con servicios es que, se comienza a crear una serie de conexiones de punto a punto entre las aplicaciones, lo que hace difícil entender que aplicaciones se comunica con cual, además de que se crear un fuerte acoplamiento entre las aplicaciones, llegando a los extremos que una aplicación no puede ser desplegada si los servicios requeridos no están disponibles, lo que ocasiona una falla en cascada de las aplicaciones. Para solventar este problema, El Service Bus permite crear abstracciones de los servicios expuestos por las aplicaciones, lo que hace que las aplicaciones se comuniquen con el Service Bus, el cual, a su vez, se comunicará con la aplicación final.</a:t>
            </a:r>
          </a:p>
          <a:p>
            <a:endParaRPr lang="es-EC" dirty="0"/>
          </a:p>
          <a:p>
            <a:endParaRPr lang="es-EC" dirty="0"/>
          </a:p>
        </p:txBody>
      </p:sp>
    </p:spTree>
    <p:extLst>
      <p:ext uri="{BB962C8B-B14F-4D97-AF65-F5344CB8AC3E}">
        <p14:creationId xmlns:p14="http://schemas.microsoft.com/office/powerpoint/2010/main" val="70259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3231AE-3EC0-8147-9F29-2116BDEEB597}"/>
              </a:ext>
            </a:extLst>
          </p:cNvPr>
          <p:cNvSpPr>
            <a:spLocks noGrp="1"/>
          </p:cNvSpPr>
          <p:nvPr>
            <p:ph type="title"/>
          </p:nvPr>
        </p:nvSpPr>
        <p:spPr/>
        <p:txBody>
          <a:bodyPr/>
          <a:lstStyle/>
          <a:p>
            <a:r>
              <a:rPr lang="es-EC" dirty="0"/>
              <a:t>Enterprise Service Bus (ESB)</a:t>
            </a:r>
          </a:p>
        </p:txBody>
      </p:sp>
      <p:pic>
        <p:nvPicPr>
          <p:cNvPr id="4" name="Marcador de contenido 3">
            <a:extLst>
              <a:ext uri="{FF2B5EF4-FFF2-40B4-BE49-F238E27FC236}">
                <a16:creationId xmlns:a16="http://schemas.microsoft.com/office/drawing/2014/main" id="{32B73836-A891-A045-9D85-A1246490B3BE}"/>
              </a:ext>
            </a:extLst>
          </p:cNvPr>
          <p:cNvPicPr>
            <a:picLocks noGrp="1" noChangeAspect="1"/>
          </p:cNvPicPr>
          <p:nvPr>
            <p:ph idx="1"/>
          </p:nvPr>
        </p:nvPicPr>
        <p:blipFill>
          <a:blip r:embed="rId3"/>
          <a:stretch>
            <a:fillRect/>
          </a:stretch>
        </p:blipFill>
        <p:spPr>
          <a:xfrm>
            <a:off x="2176528" y="1690687"/>
            <a:ext cx="7294428" cy="4300209"/>
          </a:xfrm>
          <a:prstGeom prst="rect">
            <a:avLst/>
          </a:prstGeom>
        </p:spPr>
      </p:pic>
    </p:spTree>
    <p:extLst>
      <p:ext uri="{BB962C8B-B14F-4D97-AF65-F5344CB8AC3E}">
        <p14:creationId xmlns:p14="http://schemas.microsoft.com/office/powerpoint/2010/main" val="6721734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AF5C7-5B77-BC41-9281-9C2177DE1E0E}"/>
              </a:ext>
            </a:extLst>
          </p:cNvPr>
          <p:cNvSpPr>
            <a:spLocks noGrp="1"/>
          </p:cNvSpPr>
          <p:nvPr>
            <p:ph type="title"/>
          </p:nvPr>
        </p:nvSpPr>
        <p:spPr/>
        <p:txBody>
          <a:bodyPr/>
          <a:lstStyle/>
          <a:p>
            <a:r>
              <a:rPr lang="es-EC" dirty="0"/>
              <a:t>Características de SOA</a:t>
            </a:r>
          </a:p>
        </p:txBody>
      </p:sp>
      <p:sp>
        <p:nvSpPr>
          <p:cNvPr id="3" name="Marcador de contenido 2">
            <a:extLst>
              <a:ext uri="{FF2B5EF4-FFF2-40B4-BE49-F238E27FC236}">
                <a16:creationId xmlns:a16="http://schemas.microsoft.com/office/drawing/2014/main" id="{E1EECD51-C8D9-AD4A-9720-22896C1D1A2A}"/>
              </a:ext>
            </a:extLst>
          </p:cNvPr>
          <p:cNvSpPr>
            <a:spLocks noGrp="1"/>
          </p:cNvSpPr>
          <p:nvPr>
            <p:ph idx="1"/>
          </p:nvPr>
        </p:nvSpPr>
        <p:spPr/>
        <p:txBody>
          <a:bodyPr>
            <a:normAutofit fontScale="85000" lnSpcReduction="20000"/>
          </a:bodyPr>
          <a:lstStyle/>
          <a:p>
            <a:r>
              <a:rPr lang="es-EC" dirty="0"/>
              <a:t>Las aplicaciones son pensadas desde el inicio para ser integradas con otras, por lo que exponen una serie de servicios para exponer su funcionalidad al resto de aplicaciones.</a:t>
            </a:r>
          </a:p>
          <a:p>
            <a:r>
              <a:rPr lang="es-EC" dirty="0"/>
              <a:t>Existe un grado muy alto de desacoplamiento entre las aplicaciones, debido a que trabajan con contratos y no referencias directas a las otras aplicaciones.</a:t>
            </a:r>
          </a:p>
          <a:p>
            <a:r>
              <a:rPr lang="es-EC" dirty="0"/>
              <a:t>Las aplicaciones se comunican mediante un Enterprise Service Bus (No es la regla, pero es lo más común).</a:t>
            </a:r>
          </a:p>
          <a:p>
            <a:r>
              <a:rPr lang="es-EC" dirty="0"/>
              <a:t>La comunicación se puede dar por diferentes protocolos (aunque HTTP es el más utilizado).</a:t>
            </a:r>
          </a:p>
          <a:p>
            <a:r>
              <a:rPr lang="es-EC" dirty="0"/>
              <a:t>Los mensajes intercambiados entre las diferentes aplicaciones siguen un formato específico el cual está definido en el contrato del servicio (WSDL).</a:t>
            </a:r>
          </a:p>
          <a:p>
            <a:r>
              <a:rPr lang="es-EC" dirty="0"/>
              <a:t>Los servicios son distribuidos, lo que quiere decir que los servicios pueden estar en cualquier parte de la red, ya sea local o remota y en cualquier parte geográfica.</a:t>
            </a:r>
          </a:p>
          <a:p>
            <a:endParaRPr lang="es-EC" dirty="0"/>
          </a:p>
        </p:txBody>
      </p:sp>
    </p:spTree>
    <p:extLst>
      <p:ext uri="{BB962C8B-B14F-4D97-AF65-F5344CB8AC3E}">
        <p14:creationId xmlns:p14="http://schemas.microsoft.com/office/powerpoint/2010/main" val="2527695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8C8CED-886A-2443-8E2C-EAA5E4241F63}"/>
              </a:ext>
            </a:extLst>
          </p:cNvPr>
          <p:cNvSpPr>
            <a:spLocks noGrp="1"/>
          </p:cNvSpPr>
          <p:nvPr>
            <p:ph type="title"/>
          </p:nvPr>
        </p:nvSpPr>
        <p:spPr/>
        <p:txBody>
          <a:bodyPr/>
          <a:lstStyle/>
          <a:p>
            <a:r>
              <a:rPr lang="es-EC" dirty="0"/>
              <a:t>Ventajas</a:t>
            </a:r>
          </a:p>
        </p:txBody>
      </p:sp>
      <p:sp>
        <p:nvSpPr>
          <p:cNvPr id="3" name="Marcador de contenido 2">
            <a:extLst>
              <a:ext uri="{FF2B5EF4-FFF2-40B4-BE49-F238E27FC236}">
                <a16:creationId xmlns:a16="http://schemas.microsoft.com/office/drawing/2014/main" id="{BD04ACB6-9F55-8D4E-A46A-EAB374473BD1}"/>
              </a:ext>
            </a:extLst>
          </p:cNvPr>
          <p:cNvSpPr>
            <a:spLocks noGrp="1"/>
          </p:cNvSpPr>
          <p:nvPr>
            <p:ph idx="1"/>
          </p:nvPr>
        </p:nvSpPr>
        <p:spPr/>
        <p:txBody>
          <a:bodyPr>
            <a:normAutofit fontScale="85000" lnSpcReduction="20000"/>
          </a:bodyPr>
          <a:lstStyle/>
          <a:p>
            <a:r>
              <a:rPr lang="es-EC" b="1" dirty="0"/>
              <a:t>Reduce el acoplamiento: </a:t>
            </a:r>
            <a:r>
              <a:rPr lang="es-EC" dirty="0"/>
              <a:t>La comunicación basada en contratos permite desacoplar las aplicaciones, ya que no existe referencias a la aplicación, si no a un servicio que puede estar en cualquier parte.</a:t>
            </a:r>
          </a:p>
          <a:p>
            <a:r>
              <a:rPr lang="es-EC" b="1" dirty="0"/>
              <a:t>Testabilidad</a:t>
            </a:r>
            <a:r>
              <a:rPr lang="es-EC" dirty="0"/>
              <a:t>: Las aplicaciones basadas en SOA son muy fáciles de probar, pues es posible probar de forma individual cada servicio.</a:t>
            </a:r>
          </a:p>
          <a:p>
            <a:r>
              <a:rPr lang="es-EC" b="1" dirty="0"/>
              <a:t>Reutilización</a:t>
            </a:r>
            <a:r>
              <a:rPr lang="es-EC" dirty="0"/>
              <a:t>: Los servicios SOA son desarrollados para hacer una sola tarea, por lo que facilita que otras aplicaciones reutilicen los servicios que existen.</a:t>
            </a:r>
          </a:p>
          <a:p>
            <a:r>
              <a:rPr lang="es-EC" b="1" dirty="0"/>
              <a:t>Agilidad</a:t>
            </a:r>
            <a:r>
              <a:rPr lang="es-EC" dirty="0"/>
              <a:t>: Permite crear rápidamente nuevos servicios a partir de otros existentes.</a:t>
            </a:r>
          </a:p>
          <a:p>
            <a:r>
              <a:rPr lang="es-EC" b="1" dirty="0"/>
              <a:t>Escalabilidad</a:t>
            </a:r>
            <a:r>
              <a:rPr lang="es-EC" dirty="0"/>
              <a:t>: Los servicios SOA son muy fáciles de escalar, sobre todo porque permite agregar varias instancias de un servicio y balancear la carga desde el ESB.</a:t>
            </a:r>
          </a:p>
          <a:p>
            <a:r>
              <a:rPr lang="es-EC" b="1" dirty="0"/>
              <a:t>Interoperable</a:t>
            </a:r>
            <a:r>
              <a:rPr lang="es-EC" dirty="0"/>
              <a:t>: La interoperabilidad es uno de los factores por lo que existe esta arquitectura y es que permite que aplicaciones heterogéneas se comuniquen de forma homogénea mediante el uso de estándares abiertos.</a:t>
            </a:r>
          </a:p>
          <a:p>
            <a:endParaRPr lang="es-EC" dirty="0"/>
          </a:p>
        </p:txBody>
      </p:sp>
    </p:spTree>
    <p:extLst>
      <p:ext uri="{BB962C8B-B14F-4D97-AF65-F5344CB8AC3E}">
        <p14:creationId xmlns:p14="http://schemas.microsoft.com/office/powerpoint/2010/main" val="3330623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E326C7-5249-D549-9728-7707B221FCDE}"/>
              </a:ext>
            </a:extLst>
          </p:cNvPr>
          <p:cNvSpPr>
            <a:spLocks noGrp="1"/>
          </p:cNvSpPr>
          <p:nvPr>
            <p:ph type="title"/>
          </p:nvPr>
        </p:nvSpPr>
        <p:spPr/>
        <p:txBody>
          <a:bodyPr/>
          <a:lstStyle/>
          <a:p>
            <a:r>
              <a:rPr lang="es-EC" dirty="0"/>
              <a:t>Desventajas</a:t>
            </a:r>
          </a:p>
        </p:txBody>
      </p:sp>
      <p:sp>
        <p:nvSpPr>
          <p:cNvPr id="3" name="Marcador de contenido 2">
            <a:extLst>
              <a:ext uri="{FF2B5EF4-FFF2-40B4-BE49-F238E27FC236}">
                <a16:creationId xmlns:a16="http://schemas.microsoft.com/office/drawing/2014/main" id="{84D5756F-AC64-D24B-B9FF-F42A9C55B91A}"/>
              </a:ext>
            </a:extLst>
          </p:cNvPr>
          <p:cNvSpPr>
            <a:spLocks noGrp="1"/>
          </p:cNvSpPr>
          <p:nvPr>
            <p:ph idx="1"/>
          </p:nvPr>
        </p:nvSpPr>
        <p:spPr/>
        <p:txBody>
          <a:bodyPr>
            <a:normAutofit fontScale="92500" lnSpcReduction="20000"/>
          </a:bodyPr>
          <a:lstStyle/>
          <a:p>
            <a:r>
              <a:rPr lang="es-EC" b="1" dirty="0"/>
              <a:t>Performance</a:t>
            </a:r>
            <a:r>
              <a:rPr lang="es-EC" dirty="0"/>
              <a:t>: La arquitectura SOA no se caracteriza por el performance, pues la comunicación por la red y la distribución de los servicios agregan una latencia significativa en la comunicación.</a:t>
            </a:r>
          </a:p>
          <a:p>
            <a:r>
              <a:rPr lang="es-EC" b="1" dirty="0"/>
              <a:t>Volumetría</a:t>
            </a:r>
            <a:r>
              <a:rPr lang="es-EC" dirty="0"/>
              <a:t>: SOA no se lleva con grandes volúmenes por petición, por lo que para procesar mucha información es recomendable utilizar otras tecnologías.</a:t>
            </a:r>
          </a:p>
          <a:p>
            <a:r>
              <a:rPr lang="es-EC" b="1" dirty="0"/>
              <a:t>Gobierno</a:t>
            </a:r>
            <a:r>
              <a:rPr lang="es-EC" dirty="0"/>
              <a:t>: Para que SOA pueda ser implementado correctamente, es necesario crear un Gobierno que ponga orden sobre el uso y la creación de nuevos servicios, lo que puede representar una carga adicional a la empresa.</a:t>
            </a:r>
          </a:p>
          <a:p>
            <a:r>
              <a:rPr lang="es-EC" b="1" dirty="0"/>
              <a:t>Más puntos de falla</a:t>
            </a:r>
            <a:r>
              <a:rPr lang="es-EC" dirty="0"/>
              <a:t>: Debido a que SOA es una arquitectura distribuida, es necesario implementar estrategias de falla, pues se incrementa el número de puntos de falla.</a:t>
            </a:r>
          </a:p>
          <a:p>
            <a:endParaRPr lang="es-EC" dirty="0"/>
          </a:p>
        </p:txBody>
      </p:sp>
    </p:spTree>
    <p:extLst>
      <p:ext uri="{BB962C8B-B14F-4D97-AF65-F5344CB8AC3E}">
        <p14:creationId xmlns:p14="http://schemas.microsoft.com/office/powerpoint/2010/main" val="1822026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F67D5C-E8C5-224E-AA7D-B21B429CF622}"/>
              </a:ext>
            </a:extLst>
          </p:cNvPr>
          <p:cNvSpPr>
            <a:spLocks noGrp="1"/>
          </p:cNvSpPr>
          <p:nvPr>
            <p:ph type="title"/>
          </p:nvPr>
        </p:nvSpPr>
        <p:spPr/>
        <p:txBody>
          <a:bodyPr/>
          <a:lstStyle/>
          <a:p>
            <a:r>
              <a:rPr lang="es-EC" dirty="0"/>
              <a:t>Cuando no usar SOA</a:t>
            </a:r>
          </a:p>
        </p:txBody>
      </p:sp>
      <p:sp>
        <p:nvSpPr>
          <p:cNvPr id="3" name="Marcador de contenido 2">
            <a:extLst>
              <a:ext uri="{FF2B5EF4-FFF2-40B4-BE49-F238E27FC236}">
                <a16:creationId xmlns:a16="http://schemas.microsoft.com/office/drawing/2014/main" id="{FE932AFF-F2D4-B644-8A04-F963F58BFFEC}"/>
              </a:ext>
            </a:extLst>
          </p:cNvPr>
          <p:cNvSpPr>
            <a:spLocks noGrp="1"/>
          </p:cNvSpPr>
          <p:nvPr>
            <p:ph idx="1"/>
          </p:nvPr>
        </p:nvSpPr>
        <p:spPr/>
        <p:txBody>
          <a:bodyPr>
            <a:normAutofit fontScale="85000" lnSpcReduction="20000"/>
          </a:bodyPr>
          <a:lstStyle/>
          <a:p>
            <a:pPr marL="514350" indent="-514350">
              <a:buFont typeface="+mj-lt"/>
              <a:buAutoNum type="arabicPeriod"/>
            </a:pPr>
            <a:r>
              <a:rPr lang="es-EC" dirty="0"/>
              <a:t>Para aplicaciones que tiene que procesar o enviar masivas cantidades de datos. Es importante diferenciar entre grandes volúmenes de datos y grandes volúmenes de peticiones, con SOA podemos procesar grandes volúmenes de mensajes, pues podemos clusterizar los servicios para atender muchas peticiones, pero es diferente cuando estas peticiones tienen en solitud o respuesta una masiva cantidad de datos, este último es un inconveniente para SOA pues puede poner en jaque a la arquitectura.</a:t>
            </a:r>
          </a:p>
          <a:p>
            <a:pPr marL="514350" indent="-514350">
              <a:buFont typeface="+mj-lt"/>
              <a:buAutoNum type="arabicPeriod"/>
            </a:pPr>
            <a:r>
              <a:rPr lang="es-EC" dirty="0"/>
              <a:t>Cuando el performance es lo más importante en nuestra aplicación, SOA no será una buena idea, pues la arquitectura SOA agrega muchas capas que hace que el procesamiento de los datos no sea tan rápido.</a:t>
            </a:r>
          </a:p>
          <a:p>
            <a:pPr marL="514350" indent="-514350">
              <a:buFont typeface="+mj-lt"/>
              <a:buAutoNum type="arabicPeriod"/>
            </a:pPr>
            <a:r>
              <a:rPr lang="es-EC" dirty="0"/>
              <a:t>Implementar SOA puede resultar atractivo, sin embargo, hay que tomar en cuenta que su implementación requiere de administración y gobierno, por lo que para empresas pequeñas o que no tiene procesos maduros puede llegar a ser un obstáculo en lugar de una ventaja. Si no te sientes listo para asumir estas responsabilidades, será mejor esperar un poco.</a:t>
            </a:r>
          </a:p>
          <a:p>
            <a:endParaRPr lang="es-EC" dirty="0"/>
          </a:p>
        </p:txBody>
      </p:sp>
    </p:spTree>
    <p:extLst>
      <p:ext uri="{BB962C8B-B14F-4D97-AF65-F5344CB8AC3E}">
        <p14:creationId xmlns:p14="http://schemas.microsoft.com/office/powerpoint/2010/main" val="732128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A95527-C3C7-1746-B3CC-02872E4D8ACE}"/>
              </a:ext>
            </a:extLst>
          </p:cNvPr>
          <p:cNvSpPr>
            <a:spLocks noGrp="1"/>
          </p:cNvSpPr>
          <p:nvPr>
            <p:ph type="title"/>
          </p:nvPr>
        </p:nvSpPr>
        <p:spPr/>
        <p:txBody>
          <a:bodyPr/>
          <a:lstStyle/>
          <a:p>
            <a:r>
              <a:rPr lang="es-EC" dirty="0"/>
              <a:t>Conclusiones</a:t>
            </a:r>
          </a:p>
        </p:txBody>
      </p:sp>
      <p:sp>
        <p:nvSpPr>
          <p:cNvPr id="3" name="Marcador de contenido 2">
            <a:extLst>
              <a:ext uri="{FF2B5EF4-FFF2-40B4-BE49-F238E27FC236}">
                <a16:creationId xmlns:a16="http://schemas.microsoft.com/office/drawing/2014/main" id="{DC344634-C372-2542-BFCA-8FFED26305D4}"/>
              </a:ext>
            </a:extLst>
          </p:cNvPr>
          <p:cNvSpPr>
            <a:spLocks noGrp="1"/>
          </p:cNvSpPr>
          <p:nvPr>
            <p:ph idx="1"/>
          </p:nvPr>
        </p:nvSpPr>
        <p:spPr/>
        <p:txBody>
          <a:bodyPr>
            <a:normAutofit/>
          </a:bodyPr>
          <a:lstStyle/>
          <a:p>
            <a:r>
              <a:rPr lang="es-EC" dirty="0"/>
              <a:t>Como hemos podido analizar en este tema, SOA es una arquitectura muy flexible que permite la interoperabilidad entre las diferentes aplicaciones empresariales, ya que utiliza una serie de estándares abiertos que permite que sean independientes de la tecnología o la plataforma, sin embargo, SOA es uno de los estilos arquitectónicos más complejos por la cantidad de componentes que interviene, el gobierno y toda una serie de lineamientos que se deben de cumplir para implementarla correctamente.</a:t>
            </a:r>
          </a:p>
        </p:txBody>
      </p:sp>
    </p:spTree>
    <p:extLst>
      <p:ext uri="{BB962C8B-B14F-4D97-AF65-F5344CB8AC3E}">
        <p14:creationId xmlns:p14="http://schemas.microsoft.com/office/powerpoint/2010/main" val="359131389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3471</Words>
  <Application>Microsoft Office PowerPoint</Application>
  <PresentationFormat>Panorámica</PresentationFormat>
  <Paragraphs>112</Paragraphs>
  <Slides>19</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Calibri Light</vt:lpstr>
      <vt:lpstr>Helvetica</vt:lpstr>
      <vt:lpstr>Tema de Office</vt:lpstr>
      <vt:lpstr>Integración de sistemas</vt:lpstr>
      <vt:lpstr>Service-Oriented Architecture (SOA) </vt:lpstr>
      <vt:lpstr>Como se estructura una arquitectura de SOA</vt:lpstr>
      <vt:lpstr>Independiente de la tecnología</vt:lpstr>
      <vt:lpstr>Independiente de la tecnología</vt:lpstr>
      <vt:lpstr>Reutilización </vt:lpstr>
      <vt:lpstr>Reutilización </vt:lpstr>
      <vt:lpstr>Reutilización </vt:lpstr>
      <vt:lpstr>Reutilización</vt:lpstr>
      <vt:lpstr>Encapsulamiento</vt:lpstr>
      <vt:lpstr>Encapsulamiento</vt:lpstr>
      <vt:lpstr>Encapsulamiento</vt:lpstr>
      <vt:lpstr>Enterprise Service Bus (ESB)</vt:lpstr>
      <vt:lpstr>Enterprise Service Bus (ESB)</vt:lpstr>
      <vt:lpstr>Características de SOA</vt:lpstr>
      <vt:lpstr>Ventajas</vt:lpstr>
      <vt:lpstr>Desventajas</vt:lpstr>
      <vt:lpstr>Cuando no usar SOA</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NICOLALDE RODRIGUEZ DAMIAN ANIBAL</dc:creator>
  <cp:lastModifiedBy>NICOLALDE RODRIGUEZ DAMIAN ANIBAL</cp:lastModifiedBy>
  <cp:revision>1</cp:revision>
  <dcterms:created xsi:type="dcterms:W3CDTF">2021-04-06T02:34:36Z</dcterms:created>
  <dcterms:modified xsi:type="dcterms:W3CDTF">2021-08-25T15:52:20Z</dcterms:modified>
</cp:coreProperties>
</file>